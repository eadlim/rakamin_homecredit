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aret Bold" charset="1" panose="00000000000000000000"/>
      <p:regular r:id="rId16"/>
    </p:embeddedFont>
    <p:embeddedFont>
      <p:font typeface="Poppins" charset="1" panose="00000500000000000000"/>
      <p:regular r:id="rId17"/>
    </p:embeddedFont>
    <p:embeddedFont>
      <p:font typeface="Garet" charset="1" panose="00000000000000000000"/>
      <p:regular r:id="rId18"/>
    </p:embeddedFont>
    <p:embeddedFont>
      <p:font typeface="Poppins Italics" charset="1" panose="00000500000000000000"/>
      <p:regular r:id="rId19"/>
    </p:embeddedFont>
    <p:embeddedFont>
      <p:font typeface="Garet Bold Italic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2" Target="../media/image27.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https://github.com/EadLim/Rakamin_HomeCredit?tab=readme-ov-file"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444" t="0" r="-3444" b="0"/>
            </a:stretch>
          </a:blipFill>
        </p:spPr>
      </p:sp>
      <p:grpSp>
        <p:nvGrpSpPr>
          <p:cNvPr name="Group 3" id="3"/>
          <p:cNvGrpSpPr/>
          <p:nvPr/>
        </p:nvGrpSpPr>
        <p:grpSpPr>
          <a:xfrm rot="0">
            <a:off x="7044671" y="6996409"/>
            <a:ext cx="4198657" cy="625771"/>
            <a:chOff x="0" y="0"/>
            <a:chExt cx="1316402" cy="196198"/>
          </a:xfrm>
        </p:grpSpPr>
        <p:sp>
          <p:nvSpPr>
            <p:cNvPr name="Freeform 4" id="4"/>
            <p:cNvSpPr/>
            <p:nvPr/>
          </p:nvSpPr>
          <p:spPr>
            <a:xfrm flipH="false" flipV="false" rot="0">
              <a:off x="0" y="0"/>
              <a:ext cx="1316402" cy="196198"/>
            </a:xfrm>
            <a:custGeom>
              <a:avLst/>
              <a:gdLst/>
              <a:ahLst/>
              <a:cxnLst/>
              <a:rect r="r" b="b" t="t" l="l"/>
              <a:pathLst>
                <a:path h="196198" w="1316402">
                  <a:moveTo>
                    <a:pt x="98099" y="0"/>
                  </a:moveTo>
                  <a:lnTo>
                    <a:pt x="1218303" y="0"/>
                  </a:lnTo>
                  <a:cubicBezTo>
                    <a:pt x="1272481" y="0"/>
                    <a:pt x="1316402" y="43920"/>
                    <a:pt x="1316402" y="98099"/>
                  </a:cubicBezTo>
                  <a:lnTo>
                    <a:pt x="1316402" y="98099"/>
                  </a:lnTo>
                  <a:cubicBezTo>
                    <a:pt x="1316402" y="152277"/>
                    <a:pt x="1272481" y="196198"/>
                    <a:pt x="1218303" y="196198"/>
                  </a:cubicBezTo>
                  <a:lnTo>
                    <a:pt x="98099" y="196198"/>
                  </a:lnTo>
                  <a:cubicBezTo>
                    <a:pt x="43920" y="196198"/>
                    <a:pt x="0" y="152277"/>
                    <a:pt x="0" y="98099"/>
                  </a:cubicBezTo>
                  <a:lnTo>
                    <a:pt x="0" y="98099"/>
                  </a:lnTo>
                  <a:cubicBezTo>
                    <a:pt x="0" y="43920"/>
                    <a:pt x="43920" y="0"/>
                    <a:pt x="98099" y="0"/>
                  </a:cubicBezTo>
                  <a:close/>
                </a:path>
              </a:pathLst>
            </a:custGeom>
            <a:solidFill>
              <a:srgbClr val="38B6FF"/>
            </a:solidFill>
          </p:spPr>
        </p:sp>
        <p:sp>
          <p:nvSpPr>
            <p:cNvPr name="TextBox 5" id="5"/>
            <p:cNvSpPr txBox="true"/>
            <p:nvPr/>
          </p:nvSpPr>
          <p:spPr>
            <a:xfrm>
              <a:off x="0" y="-38100"/>
              <a:ext cx="1316402" cy="23429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241402" y="8463753"/>
            <a:ext cx="2017898" cy="794547"/>
          </a:xfrm>
          <a:custGeom>
            <a:avLst/>
            <a:gdLst/>
            <a:ahLst/>
            <a:cxnLst/>
            <a:rect r="r" b="b" t="t" l="l"/>
            <a:pathLst>
              <a:path h="794547" w="2017898">
                <a:moveTo>
                  <a:pt x="0" y="0"/>
                </a:moveTo>
                <a:lnTo>
                  <a:pt x="2017898" y="0"/>
                </a:lnTo>
                <a:lnTo>
                  <a:pt x="2017898" y="794547"/>
                </a:lnTo>
                <a:lnTo>
                  <a:pt x="0" y="7945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49187" y="2757169"/>
            <a:ext cx="15189626" cy="2386331"/>
          </a:xfrm>
          <a:prstGeom prst="rect">
            <a:avLst/>
          </a:prstGeom>
        </p:spPr>
        <p:txBody>
          <a:bodyPr anchor="t" rtlCol="false" tIns="0" lIns="0" bIns="0" rIns="0">
            <a:spAutoFit/>
          </a:bodyPr>
          <a:lstStyle/>
          <a:p>
            <a:pPr algn="ctr">
              <a:lnSpc>
                <a:spcPts val="9200"/>
              </a:lnSpc>
            </a:pPr>
            <a:r>
              <a:rPr lang="en-US" b="true" sz="9200">
                <a:solidFill>
                  <a:srgbClr val="FFFFFF"/>
                </a:solidFill>
                <a:latin typeface="Garet Bold"/>
                <a:ea typeface="Garet Bold"/>
                <a:cs typeface="Garet Bold"/>
                <a:sym typeface="Garet Bold"/>
              </a:rPr>
              <a:t>CREDIT RISK MODELING HOME CREDIT</a:t>
            </a:r>
          </a:p>
        </p:txBody>
      </p:sp>
      <p:sp>
        <p:nvSpPr>
          <p:cNvPr name="TextBox 8" id="8"/>
          <p:cNvSpPr txBox="true"/>
          <p:nvPr/>
        </p:nvSpPr>
        <p:spPr>
          <a:xfrm rot="0">
            <a:off x="7351041" y="7179024"/>
            <a:ext cx="3585917" cy="308166"/>
          </a:xfrm>
          <a:prstGeom prst="rect">
            <a:avLst/>
          </a:prstGeom>
        </p:spPr>
        <p:txBody>
          <a:bodyPr anchor="t" rtlCol="false" tIns="0" lIns="0" bIns="0" rIns="0">
            <a:spAutoFit/>
          </a:bodyPr>
          <a:lstStyle/>
          <a:p>
            <a:pPr algn="ctr">
              <a:lnSpc>
                <a:spcPts val="2352"/>
              </a:lnSpc>
              <a:spcBef>
                <a:spcPct val="0"/>
              </a:spcBef>
            </a:pPr>
            <a:r>
              <a:rPr lang="en-US" b="true" sz="2352">
                <a:solidFill>
                  <a:srgbClr val="FFFFFF"/>
                </a:solidFill>
                <a:latin typeface="Garet Bold"/>
                <a:ea typeface="Garet Bold"/>
                <a:cs typeface="Garet Bold"/>
                <a:sym typeface="Garet Bold"/>
              </a:rPr>
              <a:t>Grace Gabriella Herald</a:t>
            </a:r>
          </a:p>
        </p:txBody>
      </p:sp>
      <p:sp>
        <p:nvSpPr>
          <p:cNvPr name="TextBox 9" id="9"/>
          <p:cNvSpPr txBox="true"/>
          <p:nvPr/>
        </p:nvSpPr>
        <p:spPr>
          <a:xfrm rot="0">
            <a:off x="1028700" y="1233001"/>
            <a:ext cx="1357154" cy="245745"/>
          </a:xfrm>
          <a:prstGeom prst="rect">
            <a:avLst/>
          </a:prstGeom>
        </p:spPr>
        <p:txBody>
          <a:bodyPr anchor="t" rtlCol="false" tIns="0" lIns="0" bIns="0" rIns="0">
            <a:spAutoFit/>
          </a:bodyPr>
          <a:lstStyle/>
          <a:p>
            <a:pPr algn="l">
              <a:lnSpc>
                <a:spcPts val="1800"/>
              </a:lnSpc>
              <a:spcBef>
                <a:spcPct val="0"/>
              </a:spcBef>
            </a:pPr>
            <a:r>
              <a:rPr lang="en-US" b="true" sz="1800">
                <a:solidFill>
                  <a:srgbClr val="38B6FF"/>
                </a:solidFill>
                <a:latin typeface="Garet Bold"/>
                <a:ea typeface="Garet Bold"/>
                <a:cs typeface="Garet Bold"/>
                <a:sym typeface="Garet Bold"/>
              </a:rPr>
              <a:t>01/12/2025</a:t>
            </a:r>
          </a:p>
        </p:txBody>
      </p:sp>
      <p:sp>
        <p:nvSpPr>
          <p:cNvPr name="TextBox 10" id="10"/>
          <p:cNvSpPr txBox="true"/>
          <p:nvPr/>
        </p:nvSpPr>
        <p:spPr>
          <a:xfrm rot="0">
            <a:off x="14454188" y="1233001"/>
            <a:ext cx="2805112" cy="245745"/>
          </a:xfrm>
          <a:prstGeom prst="rect">
            <a:avLst/>
          </a:prstGeom>
        </p:spPr>
        <p:txBody>
          <a:bodyPr anchor="t" rtlCol="false" tIns="0" lIns="0" bIns="0" rIns="0">
            <a:spAutoFit/>
          </a:bodyPr>
          <a:lstStyle/>
          <a:p>
            <a:pPr algn="r">
              <a:lnSpc>
                <a:spcPts val="1800"/>
              </a:lnSpc>
              <a:spcBef>
                <a:spcPct val="0"/>
              </a:spcBef>
            </a:pPr>
            <a:r>
              <a:rPr lang="en-US" b="true" sz="1800">
                <a:solidFill>
                  <a:srgbClr val="38B6FF"/>
                </a:solidFill>
                <a:latin typeface="Garet Bold"/>
                <a:ea typeface="Garet Bold"/>
                <a:cs typeface="Garet Bold"/>
                <a:sym typeface="Garet Bold"/>
              </a:rPr>
              <a:t>Home Credit - Rakamin</a:t>
            </a:r>
          </a:p>
        </p:txBody>
      </p:sp>
      <p:sp>
        <p:nvSpPr>
          <p:cNvPr name="TextBox 11" id="11"/>
          <p:cNvSpPr txBox="true"/>
          <p:nvPr/>
        </p:nvSpPr>
        <p:spPr>
          <a:xfrm rot="0">
            <a:off x="6098997" y="5351894"/>
            <a:ext cx="6090005" cy="406470"/>
          </a:xfrm>
          <a:prstGeom prst="rect">
            <a:avLst/>
          </a:prstGeom>
        </p:spPr>
        <p:txBody>
          <a:bodyPr anchor="t" rtlCol="false" tIns="0" lIns="0" bIns="0" rIns="0">
            <a:spAutoFit/>
          </a:bodyPr>
          <a:lstStyle/>
          <a:p>
            <a:pPr algn="ctr">
              <a:lnSpc>
                <a:spcPts val="3071"/>
              </a:lnSpc>
              <a:spcBef>
                <a:spcPct val="0"/>
              </a:spcBef>
            </a:pPr>
            <a:r>
              <a:rPr lang="en-US" b="true" sz="3071">
                <a:solidFill>
                  <a:srgbClr val="38B6FF"/>
                </a:solidFill>
                <a:latin typeface="Garet Bold"/>
                <a:ea typeface="Garet Bold"/>
                <a:cs typeface="Garet Bold"/>
                <a:sym typeface="Garet Bold"/>
              </a:rPr>
              <a:t>Prediksi G</a:t>
            </a:r>
            <a:r>
              <a:rPr lang="en-US" b="true" sz="3071">
                <a:solidFill>
                  <a:srgbClr val="38B6FF"/>
                </a:solidFill>
                <a:latin typeface="Garet Bold"/>
                <a:ea typeface="Garet Bold"/>
                <a:cs typeface="Garet Bold"/>
                <a:sym typeface="Garet Bold"/>
              </a:rPr>
              <a:t>agal Bayar Nasabah</a:t>
            </a:r>
          </a:p>
        </p:txBody>
      </p:sp>
      <p:sp>
        <p:nvSpPr>
          <p:cNvPr name="TextBox 12" id="12"/>
          <p:cNvSpPr txBox="true"/>
          <p:nvPr/>
        </p:nvSpPr>
        <p:spPr>
          <a:xfrm rot="0">
            <a:off x="3396384" y="6100526"/>
            <a:ext cx="11057803" cy="591820"/>
          </a:xfrm>
          <a:prstGeom prst="rect">
            <a:avLst/>
          </a:prstGeom>
        </p:spPr>
        <p:txBody>
          <a:bodyPr anchor="t" rtlCol="false" tIns="0" lIns="0" bIns="0" rIns="0">
            <a:spAutoFit/>
          </a:bodyPr>
          <a:lstStyle/>
          <a:p>
            <a:pPr algn="ctr">
              <a:lnSpc>
                <a:spcPts val="2299"/>
              </a:lnSpc>
              <a:spcBef>
                <a:spcPct val="0"/>
              </a:spcBef>
            </a:pPr>
            <a:r>
              <a:rPr lang="en-US" sz="2299">
                <a:solidFill>
                  <a:srgbClr val="FFFFFF"/>
                </a:solidFill>
                <a:latin typeface="Poppins"/>
                <a:ea typeface="Poppins"/>
                <a:cs typeface="Poppins"/>
                <a:sym typeface="Poppins"/>
              </a:rPr>
              <a:t>“Menggunakan dataset Home Credit untuk memprediksi nasabah yang berisiko mengalami keterlambatan bayar.”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false" flipV="true" rot="0">
            <a:off x="-699801" y="-792918"/>
            <a:ext cx="5403240" cy="3295976"/>
          </a:xfrm>
          <a:custGeom>
            <a:avLst/>
            <a:gdLst/>
            <a:ahLst/>
            <a:cxnLst/>
            <a:rect r="r" b="b" t="t" l="l"/>
            <a:pathLst>
              <a:path h="3295976" w="5403240">
                <a:moveTo>
                  <a:pt x="0" y="3295977"/>
                </a:moveTo>
                <a:lnTo>
                  <a:pt x="5403240" y="3295977"/>
                </a:lnTo>
                <a:lnTo>
                  <a:pt x="5403240" y="0"/>
                </a:lnTo>
                <a:lnTo>
                  <a:pt x="0" y="0"/>
                </a:lnTo>
                <a:lnTo>
                  <a:pt x="0" y="3295977"/>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863845" y="8939827"/>
            <a:ext cx="6087151" cy="608715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38B6FF"/>
            </a:solidFill>
            <a:ln cap="rnd">
              <a:noFill/>
              <a:prstDash val="solid"/>
              <a:round/>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14825394" y="1028700"/>
            <a:ext cx="2433906" cy="958351"/>
          </a:xfrm>
          <a:custGeom>
            <a:avLst/>
            <a:gdLst/>
            <a:ahLst/>
            <a:cxnLst/>
            <a:rect r="r" b="b" t="t" l="l"/>
            <a:pathLst>
              <a:path h="958351" w="2433906">
                <a:moveTo>
                  <a:pt x="0" y="0"/>
                </a:moveTo>
                <a:lnTo>
                  <a:pt x="2433906" y="0"/>
                </a:lnTo>
                <a:lnTo>
                  <a:pt x="2433906" y="958351"/>
                </a:lnTo>
                <a:lnTo>
                  <a:pt x="0" y="958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036311" y="3833769"/>
            <a:ext cx="8101950" cy="4979667"/>
            <a:chOff x="0" y="0"/>
            <a:chExt cx="10802600" cy="6639555"/>
          </a:xfrm>
        </p:grpSpPr>
        <p:grpSp>
          <p:nvGrpSpPr>
            <p:cNvPr name="Group 8" id="8"/>
            <p:cNvGrpSpPr/>
            <p:nvPr/>
          </p:nvGrpSpPr>
          <p:grpSpPr>
            <a:xfrm rot="0">
              <a:off x="2696341" y="0"/>
              <a:ext cx="5598209" cy="834362"/>
              <a:chOff x="0" y="0"/>
              <a:chExt cx="1316402" cy="196198"/>
            </a:xfrm>
          </p:grpSpPr>
          <p:sp>
            <p:nvSpPr>
              <p:cNvPr name="Freeform 9" id="9"/>
              <p:cNvSpPr/>
              <p:nvPr/>
            </p:nvSpPr>
            <p:spPr>
              <a:xfrm flipH="false" flipV="false" rot="0">
                <a:off x="0" y="0"/>
                <a:ext cx="1316402" cy="196198"/>
              </a:xfrm>
              <a:custGeom>
                <a:avLst/>
                <a:gdLst/>
                <a:ahLst/>
                <a:cxnLst/>
                <a:rect r="r" b="b" t="t" l="l"/>
                <a:pathLst>
                  <a:path h="196198" w="1316402">
                    <a:moveTo>
                      <a:pt x="98099" y="0"/>
                    </a:moveTo>
                    <a:lnTo>
                      <a:pt x="1218303" y="0"/>
                    </a:lnTo>
                    <a:cubicBezTo>
                      <a:pt x="1272481" y="0"/>
                      <a:pt x="1316402" y="43920"/>
                      <a:pt x="1316402" y="98099"/>
                    </a:cubicBezTo>
                    <a:lnTo>
                      <a:pt x="1316402" y="98099"/>
                    </a:lnTo>
                    <a:cubicBezTo>
                      <a:pt x="1316402" y="152277"/>
                      <a:pt x="1272481" y="196198"/>
                      <a:pt x="1218303" y="196198"/>
                    </a:cubicBezTo>
                    <a:lnTo>
                      <a:pt x="98099" y="196198"/>
                    </a:lnTo>
                    <a:cubicBezTo>
                      <a:pt x="43920" y="196198"/>
                      <a:pt x="0" y="152277"/>
                      <a:pt x="0" y="98099"/>
                    </a:cubicBezTo>
                    <a:lnTo>
                      <a:pt x="0" y="98099"/>
                    </a:lnTo>
                    <a:cubicBezTo>
                      <a:pt x="0" y="43920"/>
                      <a:pt x="43920" y="0"/>
                      <a:pt x="98099" y="0"/>
                    </a:cubicBezTo>
                    <a:close/>
                  </a:path>
                </a:pathLst>
              </a:custGeom>
              <a:solidFill>
                <a:srgbClr val="031B3A"/>
              </a:solidFill>
              <a:ln w="38100" cap="rnd">
                <a:solidFill>
                  <a:srgbClr val="38B6FF"/>
                </a:solidFill>
                <a:prstDash val="solid"/>
                <a:round/>
              </a:ln>
            </p:spPr>
          </p:sp>
          <p:sp>
            <p:nvSpPr>
              <p:cNvPr name="TextBox 10" id="10"/>
              <p:cNvSpPr txBox="true"/>
              <p:nvPr/>
            </p:nvSpPr>
            <p:spPr>
              <a:xfrm>
                <a:off x="0" y="-38100"/>
                <a:ext cx="1316402" cy="234298"/>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934068" y="225834"/>
              <a:ext cx="3122754" cy="420793"/>
            </a:xfrm>
            <a:prstGeom prst="rect">
              <a:avLst/>
            </a:prstGeom>
          </p:spPr>
          <p:txBody>
            <a:bodyPr anchor="t" rtlCol="false" tIns="0" lIns="0" bIns="0" rIns="0">
              <a:spAutoFit/>
            </a:bodyPr>
            <a:lstStyle/>
            <a:p>
              <a:pPr algn="ctr">
                <a:lnSpc>
                  <a:spcPts val="2299"/>
                </a:lnSpc>
              </a:pPr>
              <a:r>
                <a:rPr lang="en-US" sz="2299">
                  <a:solidFill>
                    <a:srgbClr val="FFFFFF"/>
                  </a:solidFill>
                  <a:latin typeface="Poppins"/>
                  <a:ea typeface="Poppins"/>
                  <a:cs typeface="Poppins"/>
                  <a:sym typeface="Poppins"/>
                </a:rPr>
                <a:t>Aplikasi Masuk</a:t>
              </a:r>
            </a:p>
          </p:txBody>
        </p:sp>
        <p:grpSp>
          <p:nvGrpSpPr>
            <p:cNvPr name="Group 12" id="12"/>
            <p:cNvGrpSpPr/>
            <p:nvPr/>
          </p:nvGrpSpPr>
          <p:grpSpPr>
            <a:xfrm rot="0">
              <a:off x="2696341" y="1698808"/>
              <a:ext cx="5598209" cy="834362"/>
              <a:chOff x="0" y="0"/>
              <a:chExt cx="1316402" cy="196198"/>
            </a:xfrm>
          </p:grpSpPr>
          <p:sp>
            <p:nvSpPr>
              <p:cNvPr name="Freeform 13" id="13"/>
              <p:cNvSpPr/>
              <p:nvPr/>
            </p:nvSpPr>
            <p:spPr>
              <a:xfrm flipH="false" flipV="false" rot="0">
                <a:off x="0" y="0"/>
                <a:ext cx="1316402" cy="196198"/>
              </a:xfrm>
              <a:custGeom>
                <a:avLst/>
                <a:gdLst/>
                <a:ahLst/>
                <a:cxnLst/>
                <a:rect r="r" b="b" t="t" l="l"/>
                <a:pathLst>
                  <a:path h="196198" w="1316402">
                    <a:moveTo>
                      <a:pt x="98099" y="0"/>
                    </a:moveTo>
                    <a:lnTo>
                      <a:pt x="1218303" y="0"/>
                    </a:lnTo>
                    <a:cubicBezTo>
                      <a:pt x="1272481" y="0"/>
                      <a:pt x="1316402" y="43920"/>
                      <a:pt x="1316402" y="98099"/>
                    </a:cubicBezTo>
                    <a:lnTo>
                      <a:pt x="1316402" y="98099"/>
                    </a:lnTo>
                    <a:cubicBezTo>
                      <a:pt x="1316402" y="152277"/>
                      <a:pt x="1272481" y="196198"/>
                      <a:pt x="1218303" y="196198"/>
                    </a:cubicBezTo>
                    <a:lnTo>
                      <a:pt x="98099" y="196198"/>
                    </a:lnTo>
                    <a:cubicBezTo>
                      <a:pt x="43920" y="196198"/>
                      <a:pt x="0" y="152277"/>
                      <a:pt x="0" y="98099"/>
                    </a:cubicBezTo>
                    <a:lnTo>
                      <a:pt x="0" y="98099"/>
                    </a:lnTo>
                    <a:cubicBezTo>
                      <a:pt x="0" y="43920"/>
                      <a:pt x="43920" y="0"/>
                      <a:pt x="98099" y="0"/>
                    </a:cubicBezTo>
                    <a:close/>
                  </a:path>
                </a:pathLst>
              </a:custGeom>
              <a:solidFill>
                <a:srgbClr val="031B3A"/>
              </a:solidFill>
              <a:ln w="38100" cap="rnd">
                <a:solidFill>
                  <a:srgbClr val="38B6FF"/>
                </a:solidFill>
                <a:prstDash val="solid"/>
                <a:round/>
              </a:ln>
            </p:spPr>
          </p:sp>
          <p:sp>
            <p:nvSpPr>
              <p:cNvPr name="TextBox 14" id="14"/>
              <p:cNvSpPr txBox="true"/>
              <p:nvPr/>
            </p:nvSpPr>
            <p:spPr>
              <a:xfrm>
                <a:off x="0" y="-38100"/>
                <a:ext cx="1316402" cy="234298"/>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3289804" y="1924643"/>
              <a:ext cx="4360482" cy="420793"/>
            </a:xfrm>
            <a:prstGeom prst="rect">
              <a:avLst/>
            </a:prstGeom>
          </p:spPr>
          <p:txBody>
            <a:bodyPr anchor="t" rtlCol="false" tIns="0" lIns="0" bIns="0" rIns="0">
              <a:spAutoFit/>
            </a:bodyPr>
            <a:lstStyle/>
            <a:p>
              <a:pPr algn="ctr">
                <a:lnSpc>
                  <a:spcPts val="2299"/>
                </a:lnSpc>
              </a:pPr>
              <a:r>
                <a:rPr lang="en-US" sz="2299">
                  <a:solidFill>
                    <a:srgbClr val="FFFFFF"/>
                  </a:solidFill>
                  <a:latin typeface="Poppins"/>
                  <a:ea typeface="Poppins"/>
                  <a:cs typeface="Poppins"/>
                  <a:sym typeface="Poppins"/>
                </a:rPr>
                <a:t>Model Skor Risiko</a:t>
              </a:r>
            </a:p>
          </p:txBody>
        </p:sp>
        <p:sp>
          <p:nvSpPr>
            <p:cNvPr name="AutoShape 16" id="16"/>
            <p:cNvSpPr/>
            <p:nvPr/>
          </p:nvSpPr>
          <p:spPr>
            <a:xfrm flipH="true">
              <a:off x="5495445" y="834362"/>
              <a:ext cx="0" cy="864446"/>
            </a:xfrm>
            <a:prstGeom prst="line">
              <a:avLst/>
            </a:prstGeom>
            <a:ln cap="flat" w="50800">
              <a:solidFill>
                <a:srgbClr val="FFFFFF"/>
              </a:solidFill>
              <a:prstDash val="solid"/>
              <a:headEnd type="none" len="sm" w="sm"/>
              <a:tailEnd type="arrow" len="sm" w="med"/>
            </a:ln>
          </p:spPr>
        </p:sp>
        <p:grpSp>
          <p:nvGrpSpPr>
            <p:cNvPr name="Group 17" id="17"/>
            <p:cNvGrpSpPr/>
            <p:nvPr/>
          </p:nvGrpSpPr>
          <p:grpSpPr>
            <a:xfrm rot="0">
              <a:off x="3438045" y="3120341"/>
              <a:ext cx="4114800" cy="2107776"/>
              <a:chOff x="0" y="0"/>
              <a:chExt cx="647700" cy="331780"/>
            </a:xfrm>
          </p:grpSpPr>
          <p:sp>
            <p:nvSpPr>
              <p:cNvPr name="Freeform 18" id="18"/>
              <p:cNvSpPr/>
              <p:nvPr/>
            </p:nvSpPr>
            <p:spPr>
              <a:xfrm flipH="false" flipV="false" rot="0">
                <a:off x="24441" y="9644"/>
                <a:ext cx="598817" cy="312491"/>
              </a:xfrm>
              <a:custGeom>
                <a:avLst/>
                <a:gdLst/>
                <a:ahLst/>
                <a:cxnLst/>
                <a:rect r="r" b="b" t="t" l="l"/>
                <a:pathLst>
                  <a:path h="312491" w="598817">
                    <a:moveTo>
                      <a:pt x="334994" y="8584"/>
                    </a:moveTo>
                    <a:lnTo>
                      <a:pt x="587674" y="138018"/>
                    </a:lnTo>
                    <a:cubicBezTo>
                      <a:pt x="594515" y="141522"/>
                      <a:pt x="598818" y="148560"/>
                      <a:pt x="598818" y="156246"/>
                    </a:cubicBezTo>
                    <a:cubicBezTo>
                      <a:pt x="598818" y="163931"/>
                      <a:pt x="594515" y="170970"/>
                      <a:pt x="587674" y="174474"/>
                    </a:cubicBezTo>
                    <a:lnTo>
                      <a:pt x="334994" y="303908"/>
                    </a:lnTo>
                    <a:cubicBezTo>
                      <a:pt x="312651" y="315353"/>
                      <a:pt x="286167" y="315353"/>
                      <a:pt x="263824" y="303908"/>
                    </a:cubicBezTo>
                    <a:lnTo>
                      <a:pt x="11144" y="174474"/>
                    </a:lnTo>
                    <a:cubicBezTo>
                      <a:pt x="4303" y="170970"/>
                      <a:pt x="0" y="163931"/>
                      <a:pt x="0" y="156246"/>
                    </a:cubicBezTo>
                    <a:cubicBezTo>
                      <a:pt x="0" y="148560"/>
                      <a:pt x="4303" y="141522"/>
                      <a:pt x="11144" y="138018"/>
                    </a:cubicBezTo>
                    <a:lnTo>
                      <a:pt x="263824" y="8584"/>
                    </a:lnTo>
                    <a:cubicBezTo>
                      <a:pt x="286167" y="-2861"/>
                      <a:pt x="312651" y="-2861"/>
                      <a:pt x="334994" y="8584"/>
                    </a:cubicBezTo>
                    <a:close/>
                  </a:path>
                </a:pathLst>
              </a:custGeom>
              <a:solidFill>
                <a:srgbClr val="031B3A"/>
              </a:solidFill>
              <a:ln w="38100" cap="sq">
                <a:solidFill>
                  <a:srgbClr val="38B6FF"/>
                </a:solidFill>
                <a:prstDash val="solid"/>
                <a:miter/>
              </a:ln>
            </p:spPr>
          </p:sp>
          <p:sp>
            <p:nvSpPr>
              <p:cNvPr name="TextBox 19" id="19"/>
              <p:cNvSpPr txBox="true"/>
              <p:nvPr/>
            </p:nvSpPr>
            <p:spPr>
              <a:xfrm>
                <a:off x="152400" y="120455"/>
                <a:ext cx="342900" cy="138495"/>
              </a:xfrm>
              <a:prstGeom prst="rect">
                <a:avLst/>
              </a:prstGeom>
            </p:spPr>
            <p:txBody>
              <a:bodyPr anchor="ctr" rtlCol="false" tIns="50800" lIns="50800" bIns="50800" rIns="50800"/>
              <a:lstStyle/>
              <a:p>
                <a:pPr algn="ctr">
                  <a:lnSpc>
                    <a:spcPts val="2499"/>
                  </a:lnSpc>
                </a:pPr>
              </a:p>
            </p:txBody>
          </p:sp>
        </p:grpSp>
        <p:sp>
          <p:nvSpPr>
            <p:cNvPr name="TextBox 20" id="20"/>
            <p:cNvSpPr txBox="true"/>
            <p:nvPr/>
          </p:nvSpPr>
          <p:spPr>
            <a:xfrm rot="0">
              <a:off x="3934068" y="3982883"/>
              <a:ext cx="3122754" cy="420793"/>
            </a:xfrm>
            <a:prstGeom prst="rect">
              <a:avLst/>
            </a:prstGeom>
          </p:spPr>
          <p:txBody>
            <a:bodyPr anchor="t" rtlCol="false" tIns="0" lIns="0" bIns="0" rIns="0">
              <a:spAutoFit/>
            </a:bodyPr>
            <a:lstStyle/>
            <a:p>
              <a:pPr algn="ctr">
                <a:lnSpc>
                  <a:spcPts val="2299"/>
                </a:lnSpc>
              </a:pPr>
              <a:r>
                <a:rPr lang="en-US" sz="2299">
                  <a:solidFill>
                    <a:srgbClr val="FFFFFF"/>
                  </a:solidFill>
                  <a:latin typeface="Poppins"/>
                  <a:ea typeface="Poppins"/>
                  <a:cs typeface="Poppins"/>
                  <a:sym typeface="Poppins"/>
                </a:rPr>
                <a:t>Keputusan</a:t>
              </a:r>
            </a:p>
          </p:txBody>
        </p:sp>
        <p:grpSp>
          <p:nvGrpSpPr>
            <p:cNvPr name="Group 21" id="21"/>
            <p:cNvGrpSpPr/>
            <p:nvPr/>
          </p:nvGrpSpPr>
          <p:grpSpPr>
            <a:xfrm rot="0">
              <a:off x="359767" y="3757048"/>
              <a:ext cx="2403221" cy="834362"/>
              <a:chOff x="0" y="0"/>
              <a:chExt cx="565110" cy="196198"/>
            </a:xfrm>
          </p:grpSpPr>
          <p:sp>
            <p:nvSpPr>
              <p:cNvPr name="Freeform 22" id="22"/>
              <p:cNvSpPr/>
              <p:nvPr/>
            </p:nvSpPr>
            <p:spPr>
              <a:xfrm flipH="false" flipV="false" rot="0">
                <a:off x="0" y="0"/>
                <a:ext cx="565110" cy="196198"/>
              </a:xfrm>
              <a:custGeom>
                <a:avLst/>
                <a:gdLst/>
                <a:ahLst/>
                <a:cxnLst/>
                <a:rect r="r" b="b" t="t" l="l"/>
                <a:pathLst>
                  <a:path h="196198" w="565110">
                    <a:moveTo>
                      <a:pt x="98099" y="0"/>
                    </a:moveTo>
                    <a:lnTo>
                      <a:pt x="467011" y="0"/>
                    </a:lnTo>
                    <a:cubicBezTo>
                      <a:pt x="493029" y="0"/>
                      <a:pt x="517980" y="10335"/>
                      <a:pt x="536378" y="28732"/>
                    </a:cubicBezTo>
                    <a:cubicBezTo>
                      <a:pt x="554775" y="47130"/>
                      <a:pt x="565110" y="72081"/>
                      <a:pt x="565110" y="98099"/>
                    </a:cubicBezTo>
                    <a:lnTo>
                      <a:pt x="565110" y="98099"/>
                    </a:lnTo>
                    <a:cubicBezTo>
                      <a:pt x="565110" y="152277"/>
                      <a:pt x="521190" y="196198"/>
                      <a:pt x="467011" y="196198"/>
                    </a:cubicBezTo>
                    <a:lnTo>
                      <a:pt x="98099" y="196198"/>
                    </a:lnTo>
                    <a:cubicBezTo>
                      <a:pt x="43920" y="196198"/>
                      <a:pt x="0" y="152277"/>
                      <a:pt x="0" y="98099"/>
                    </a:cubicBezTo>
                    <a:lnTo>
                      <a:pt x="0" y="98099"/>
                    </a:lnTo>
                    <a:cubicBezTo>
                      <a:pt x="0" y="43920"/>
                      <a:pt x="43920" y="0"/>
                      <a:pt x="98099" y="0"/>
                    </a:cubicBezTo>
                    <a:close/>
                  </a:path>
                </a:pathLst>
              </a:custGeom>
              <a:solidFill>
                <a:srgbClr val="031B3A"/>
              </a:solidFill>
              <a:ln w="38100" cap="rnd">
                <a:solidFill>
                  <a:srgbClr val="38B6FF"/>
                </a:solidFill>
                <a:prstDash val="solid"/>
                <a:round/>
              </a:ln>
            </p:spPr>
          </p:sp>
          <p:sp>
            <p:nvSpPr>
              <p:cNvPr name="TextBox 23" id="23"/>
              <p:cNvSpPr txBox="true"/>
              <p:nvPr/>
            </p:nvSpPr>
            <p:spPr>
              <a:xfrm>
                <a:off x="0" y="-38100"/>
                <a:ext cx="565110" cy="234298"/>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0" y="3982883"/>
              <a:ext cx="3122754" cy="420793"/>
            </a:xfrm>
            <a:prstGeom prst="rect">
              <a:avLst/>
            </a:prstGeom>
          </p:spPr>
          <p:txBody>
            <a:bodyPr anchor="t" rtlCol="false" tIns="0" lIns="0" bIns="0" rIns="0">
              <a:spAutoFit/>
            </a:bodyPr>
            <a:lstStyle/>
            <a:p>
              <a:pPr algn="ctr">
                <a:lnSpc>
                  <a:spcPts val="2299"/>
                </a:lnSpc>
              </a:pPr>
              <a:r>
                <a:rPr lang="en-US" sz="2299">
                  <a:solidFill>
                    <a:srgbClr val="FFFFFF"/>
                  </a:solidFill>
                  <a:latin typeface="Poppins"/>
                  <a:ea typeface="Poppins"/>
                  <a:cs typeface="Poppins"/>
                  <a:sym typeface="Poppins"/>
                </a:rPr>
                <a:t>Approve</a:t>
              </a:r>
            </a:p>
          </p:txBody>
        </p:sp>
        <p:grpSp>
          <p:nvGrpSpPr>
            <p:cNvPr name="Group 25" id="25"/>
            <p:cNvGrpSpPr/>
            <p:nvPr/>
          </p:nvGrpSpPr>
          <p:grpSpPr>
            <a:xfrm rot="0">
              <a:off x="4293835" y="5805194"/>
              <a:ext cx="2403221" cy="834362"/>
              <a:chOff x="0" y="0"/>
              <a:chExt cx="565110" cy="196198"/>
            </a:xfrm>
          </p:grpSpPr>
          <p:sp>
            <p:nvSpPr>
              <p:cNvPr name="Freeform 26" id="26"/>
              <p:cNvSpPr/>
              <p:nvPr/>
            </p:nvSpPr>
            <p:spPr>
              <a:xfrm flipH="false" flipV="false" rot="0">
                <a:off x="0" y="0"/>
                <a:ext cx="565110" cy="196198"/>
              </a:xfrm>
              <a:custGeom>
                <a:avLst/>
                <a:gdLst/>
                <a:ahLst/>
                <a:cxnLst/>
                <a:rect r="r" b="b" t="t" l="l"/>
                <a:pathLst>
                  <a:path h="196198" w="565110">
                    <a:moveTo>
                      <a:pt x="98099" y="0"/>
                    </a:moveTo>
                    <a:lnTo>
                      <a:pt x="467011" y="0"/>
                    </a:lnTo>
                    <a:cubicBezTo>
                      <a:pt x="493029" y="0"/>
                      <a:pt x="517980" y="10335"/>
                      <a:pt x="536378" y="28732"/>
                    </a:cubicBezTo>
                    <a:cubicBezTo>
                      <a:pt x="554775" y="47130"/>
                      <a:pt x="565110" y="72081"/>
                      <a:pt x="565110" y="98099"/>
                    </a:cubicBezTo>
                    <a:lnTo>
                      <a:pt x="565110" y="98099"/>
                    </a:lnTo>
                    <a:cubicBezTo>
                      <a:pt x="565110" y="152277"/>
                      <a:pt x="521190" y="196198"/>
                      <a:pt x="467011" y="196198"/>
                    </a:cubicBezTo>
                    <a:lnTo>
                      <a:pt x="98099" y="196198"/>
                    </a:lnTo>
                    <a:cubicBezTo>
                      <a:pt x="43920" y="196198"/>
                      <a:pt x="0" y="152277"/>
                      <a:pt x="0" y="98099"/>
                    </a:cubicBezTo>
                    <a:lnTo>
                      <a:pt x="0" y="98099"/>
                    </a:lnTo>
                    <a:cubicBezTo>
                      <a:pt x="0" y="43920"/>
                      <a:pt x="43920" y="0"/>
                      <a:pt x="98099" y="0"/>
                    </a:cubicBezTo>
                    <a:close/>
                  </a:path>
                </a:pathLst>
              </a:custGeom>
              <a:solidFill>
                <a:srgbClr val="031B3A"/>
              </a:solidFill>
              <a:ln w="38100" cap="rnd">
                <a:solidFill>
                  <a:srgbClr val="38B6FF"/>
                </a:solidFill>
                <a:prstDash val="solid"/>
                <a:round/>
              </a:ln>
            </p:spPr>
          </p:sp>
          <p:sp>
            <p:nvSpPr>
              <p:cNvPr name="TextBox 27" id="27"/>
              <p:cNvSpPr txBox="true"/>
              <p:nvPr/>
            </p:nvSpPr>
            <p:spPr>
              <a:xfrm>
                <a:off x="0" y="-38100"/>
                <a:ext cx="565110" cy="234298"/>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8032350" y="3757048"/>
              <a:ext cx="2403221" cy="834362"/>
              <a:chOff x="0" y="0"/>
              <a:chExt cx="565110" cy="196198"/>
            </a:xfrm>
          </p:grpSpPr>
          <p:sp>
            <p:nvSpPr>
              <p:cNvPr name="Freeform 29" id="29"/>
              <p:cNvSpPr/>
              <p:nvPr/>
            </p:nvSpPr>
            <p:spPr>
              <a:xfrm flipH="false" flipV="false" rot="0">
                <a:off x="0" y="0"/>
                <a:ext cx="565110" cy="196198"/>
              </a:xfrm>
              <a:custGeom>
                <a:avLst/>
                <a:gdLst/>
                <a:ahLst/>
                <a:cxnLst/>
                <a:rect r="r" b="b" t="t" l="l"/>
                <a:pathLst>
                  <a:path h="196198" w="565110">
                    <a:moveTo>
                      <a:pt x="98099" y="0"/>
                    </a:moveTo>
                    <a:lnTo>
                      <a:pt x="467011" y="0"/>
                    </a:lnTo>
                    <a:cubicBezTo>
                      <a:pt x="493029" y="0"/>
                      <a:pt x="517980" y="10335"/>
                      <a:pt x="536378" y="28732"/>
                    </a:cubicBezTo>
                    <a:cubicBezTo>
                      <a:pt x="554775" y="47130"/>
                      <a:pt x="565110" y="72081"/>
                      <a:pt x="565110" y="98099"/>
                    </a:cubicBezTo>
                    <a:lnTo>
                      <a:pt x="565110" y="98099"/>
                    </a:lnTo>
                    <a:cubicBezTo>
                      <a:pt x="565110" y="152277"/>
                      <a:pt x="521190" y="196198"/>
                      <a:pt x="467011" y="196198"/>
                    </a:cubicBezTo>
                    <a:lnTo>
                      <a:pt x="98099" y="196198"/>
                    </a:lnTo>
                    <a:cubicBezTo>
                      <a:pt x="43920" y="196198"/>
                      <a:pt x="0" y="152277"/>
                      <a:pt x="0" y="98099"/>
                    </a:cubicBezTo>
                    <a:lnTo>
                      <a:pt x="0" y="98099"/>
                    </a:lnTo>
                    <a:cubicBezTo>
                      <a:pt x="0" y="43920"/>
                      <a:pt x="43920" y="0"/>
                      <a:pt x="98099" y="0"/>
                    </a:cubicBezTo>
                    <a:close/>
                  </a:path>
                </a:pathLst>
              </a:custGeom>
              <a:solidFill>
                <a:srgbClr val="031B3A"/>
              </a:solidFill>
              <a:ln w="38100" cap="rnd">
                <a:solidFill>
                  <a:srgbClr val="38B6FF"/>
                </a:solidFill>
                <a:prstDash val="solid"/>
                <a:round/>
              </a:ln>
            </p:spPr>
          </p:sp>
          <p:sp>
            <p:nvSpPr>
              <p:cNvPr name="TextBox 30" id="30"/>
              <p:cNvSpPr txBox="true"/>
              <p:nvPr/>
            </p:nvSpPr>
            <p:spPr>
              <a:xfrm>
                <a:off x="0" y="-38100"/>
                <a:ext cx="565110" cy="234298"/>
              </a:xfrm>
              <a:prstGeom prst="rect">
                <a:avLst/>
              </a:prstGeom>
            </p:spPr>
            <p:txBody>
              <a:bodyPr anchor="ctr" rtlCol="false" tIns="50800" lIns="50800" bIns="50800" rIns="50800"/>
              <a:lstStyle/>
              <a:p>
                <a:pPr algn="ctr">
                  <a:lnSpc>
                    <a:spcPts val="2659"/>
                  </a:lnSpc>
                  <a:spcBef>
                    <a:spcPct val="0"/>
                  </a:spcBef>
                </a:pPr>
              </a:p>
            </p:txBody>
          </p:sp>
        </p:grpSp>
        <p:sp>
          <p:nvSpPr>
            <p:cNvPr name="TextBox 31" id="31"/>
            <p:cNvSpPr txBox="true"/>
            <p:nvPr/>
          </p:nvSpPr>
          <p:spPr>
            <a:xfrm rot="0">
              <a:off x="3934068" y="6031028"/>
              <a:ext cx="3122754" cy="420793"/>
            </a:xfrm>
            <a:prstGeom prst="rect">
              <a:avLst/>
            </a:prstGeom>
          </p:spPr>
          <p:txBody>
            <a:bodyPr anchor="t" rtlCol="false" tIns="0" lIns="0" bIns="0" rIns="0">
              <a:spAutoFit/>
            </a:bodyPr>
            <a:lstStyle/>
            <a:p>
              <a:pPr algn="ctr">
                <a:lnSpc>
                  <a:spcPts val="2299"/>
                </a:lnSpc>
              </a:pPr>
              <a:r>
                <a:rPr lang="en-US" sz="2299">
                  <a:solidFill>
                    <a:srgbClr val="FFFFFF"/>
                  </a:solidFill>
                  <a:latin typeface="Poppins"/>
                  <a:ea typeface="Poppins"/>
                  <a:cs typeface="Poppins"/>
                  <a:sym typeface="Poppins"/>
                </a:rPr>
                <a:t>Review</a:t>
              </a:r>
            </a:p>
          </p:txBody>
        </p:sp>
        <p:sp>
          <p:nvSpPr>
            <p:cNvPr name="TextBox 32" id="32"/>
            <p:cNvSpPr txBox="true"/>
            <p:nvPr/>
          </p:nvSpPr>
          <p:spPr>
            <a:xfrm rot="0">
              <a:off x="7679845" y="3982883"/>
              <a:ext cx="3122754" cy="420793"/>
            </a:xfrm>
            <a:prstGeom prst="rect">
              <a:avLst/>
            </a:prstGeom>
          </p:spPr>
          <p:txBody>
            <a:bodyPr anchor="t" rtlCol="false" tIns="0" lIns="0" bIns="0" rIns="0">
              <a:spAutoFit/>
            </a:bodyPr>
            <a:lstStyle/>
            <a:p>
              <a:pPr algn="ctr">
                <a:lnSpc>
                  <a:spcPts val="2299"/>
                </a:lnSpc>
              </a:pPr>
              <a:r>
                <a:rPr lang="en-US" sz="2299">
                  <a:solidFill>
                    <a:srgbClr val="FFFFFF"/>
                  </a:solidFill>
                  <a:latin typeface="Poppins"/>
                  <a:ea typeface="Poppins"/>
                  <a:cs typeface="Poppins"/>
                  <a:sym typeface="Poppins"/>
                </a:rPr>
                <a:t>Decline</a:t>
              </a:r>
            </a:p>
          </p:txBody>
        </p:sp>
        <p:sp>
          <p:nvSpPr>
            <p:cNvPr name="AutoShape 33" id="33"/>
            <p:cNvSpPr/>
            <p:nvPr/>
          </p:nvSpPr>
          <p:spPr>
            <a:xfrm flipH="true">
              <a:off x="5495445" y="2533170"/>
              <a:ext cx="0" cy="648440"/>
            </a:xfrm>
            <a:prstGeom prst="line">
              <a:avLst/>
            </a:prstGeom>
            <a:ln cap="flat" w="50800">
              <a:solidFill>
                <a:srgbClr val="FFFFFF"/>
              </a:solidFill>
              <a:prstDash val="solid"/>
              <a:headEnd type="none" len="sm" w="sm"/>
              <a:tailEnd type="arrow" len="sm" w="med"/>
            </a:ln>
          </p:spPr>
        </p:sp>
        <p:sp>
          <p:nvSpPr>
            <p:cNvPr name="AutoShape 34" id="34"/>
            <p:cNvSpPr/>
            <p:nvPr/>
          </p:nvSpPr>
          <p:spPr>
            <a:xfrm flipH="true">
              <a:off x="2762988" y="4174229"/>
              <a:ext cx="830333" cy="0"/>
            </a:xfrm>
            <a:prstGeom prst="line">
              <a:avLst/>
            </a:prstGeom>
            <a:ln cap="flat" w="50800">
              <a:solidFill>
                <a:srgbClr val="FFFFFF"/>
              </a:solidFill>
              <a:prstDash val="solid"/>
              <a:headEnd type="none" len="sm" w="sm"/>
              <a:tailEnd type="arrow" len="sm" w="med"/>
            </a:ln>
          </p:spPr>
        </p:sp>
        <p:sp>
          <p:nvSpPr>
            <p:cNvPr name="AutoShape 35" id="35"/>
            <p:cNvSpPr/>
            <p:nvPr/>
          </p:nvSpPr>
          <p:spPr>
            <a:xfrm>
              <a:off x="7397570" y="4174229"/>
              <a:ext cx="634780" cy="0"/>
            </a:xfrm>
            <a:prstGeom prst="line">
              <a:avLst/>
            </a:prstGeom>
            <a:ln cap="flat" w="50800">
              <a:solidFill>
                <a:srgbClr val="FFFFFF"/>
              </a:solidFill>
              <a:prstDash val="solid"/>
              <a:headEnd type="none" len="sm" w="sm"/>
              <a:tailEnd type="arrow" len="sm" w="med"/>
            </a:ln>
          </p:spPr>
        </p:sp>
        <p:sp>
          <p:nvSpPr>
            <p:cNvPr name="AutoShape 36" id="36"/>
            <p:cNvSpPr/>
            <p:nvPr/>
          </p:nvSpPr>
          <p:spPr>
            <a:xfrm>
              <a:off x="5495445" y="5166848"/>
              <a:ext cx="0" cy="638346"/>
            </a:xfrm>
            <a:prstGeom prst="line">
              <a:avLst/>
            </a:prstGeom>
            <a:ln cap="flat" w="50800">
              <a:solidFill>
                <a:srgbClr val="FFFFFF"/>
              </a:solidFill>
              <a:prstDash val="solid"/>
              <a:headEnd type="none" len="sm" w="sm"/>
              <a:tailEnd type="arrow" len="sm" w="med"/>
            </a:ln>
          </p:spPr>
        </p:sp>
      </p:grpSp>
      <p:sp>
        <p:nvSpPr>
          <p:cNvPr name="TextBox 37" id="37"/>
          <p:cNvSpPr txBox="true"/>
          <p:nvPr/>
        </p:nvSpPr>
        <p:spPr>
          <a:xfrm rot="0">
            <a:off x="1121892" y="3682957"/>
            <a:ext cx="2551430" cy="339725"/>
          </a:xfrm>
          <a:prstGeom prst="rect">
            <a:avLst/>
          </a:prstGeom>
        </p:spPr>
        <p:txBody>
          <a:bodyPr anchor="t" rtlCol="false" tIns="0" lIns="0" bIns="0" rIns="0">
            <a:spAutoFit/>
          </a:bodyPr>
          <a:lstStyle/>
          <a:p>
            <a:pPr algn="l">
              <a:lnSpc>
                <a:spcPts val="2500"/>
              </a:lnSpc>
            </a:pPr>
            <a:r>
              <a:rPr lang="en-US" sz="2500" b="true">
                <a:solidFill>
                  <a:srgbClr val="49C3FB"/>
                </a:solidFill>
                <a:latin typeface="Garet Bold"/>
                <a:ea typeface="Garet Bold"/>
                <a:cs typeface="Garet Bold"/>
                <a:sym typeface="Garet Bold"/>
              </a:rPr>
              <a:t>Problem bisnis:</a:t>
            </a:r>
          </a:p>
        </p:txBody>
      </p:sp>
      <p:sp>
        <p:nvSpPr>
          <p:cNvPr name="TextBox 38" id="38"/>
          <p:cNvSpPr txBox="true"/>
          <p:nvPr/>
        </p:nvSpPr>
        <p:spPr>
          <a:xfrm rot="0">
            <a:off x="1121892" y="1379668"/>
            <a:ext cx="10752071" cy="1916569"/>
          </a:xfrm>
          <a:prstGeom prst="rect">
            <a:avLst/>
          </a:prstGeom>
        </p:spPr>
        <p:txBody>
          <a:bodyPr anchor="t" rtlCol="false" tIns="0" lIns="0" bIns="0" rIns="0">
            <a:spAutoFit/>
          </a:bodyPr>
          <a:lstStyle/>
          <a:p>
            <a:pPr algn="l">
              <a:lnSpc>
                <a:spcPts val="7336"/>
              </a:lnSpc>
            </a:pPr>
            <a:r>
              <a:rPr lang="en-US" sz="7336" b="true">
                <a:solidFill>
                  <a:srgbClr val="FFFFFF"/>
                </a:solidFill>
                <a:latin typeface="Garet Bold"/>
                <a:ea typeface="Garet Bold"/>
                <a:cs typeface="Garet Bold"/>
                <a:sym typeface="Garet Bold"/>
              </a:rPr>
              <a:t>PROBLEM YANG INGIN DISELESAIKAN</a:t>
            </a:r>
          </a:p>
        </p:txBody>
      </p:sp>
      <p:sp>
        <p:nvSpPr>
          <p:cNvPr name="TextBox 39" id="39"/>
          <p:cNvSpPr txBox="true"/>
          <p:nvPr/>
        </p:nvSpPr>
        <p:spPr>
          <a:xfrm rot="0">
            <a:off x="1121892" y="4251282"/>
            <a:ext cx="8609165" cy="877570"/>
          </a:xfrm>
          <a:prstGeom prst="rect">
            <a:avLst/>
          </a:prstGeom>
        </p:spPr>
        <p:txBody>
          <a:bodyPr anchor="t" rtlCol="false" tIns="0" lIns="0" bIns="0" rIns="0">
            <a:spAutoFit/>
          </a:bodyPr>
          <a:lstStyle/>
          <a:p>
            <a:pPr algn="l" marL="496567" indent="-248284" lvl="1">
              <a:lnSpc>
                <a:spcPts val="2299"/>
              </a:lnSpc>
              <a:buFont typeface="Arial"/>
              <a:buChar char="•"/>
            </a:pPr>
            <a:r>
              <a:rPr lang="en-US" sz="2299">
                <a:solidFill>
                  <a:srgbClr val="FFFFFF"/>
                </a:solidFill>
                <a:latin typeface="Poppins"/>
                <a:ea typeface="Poppins"/>
                <a:cs typeface="Poppins"/>
                <a:sym typeface="Poppins"/>
              </a:rPr>
              <a:t>Perusahaan ingin menurunkan risiko gagal bayar tanpa menolak terlalu banyak nasabah yang sebenarnya layak.</a:t>
            </a:r>
          </a:p>
        </p:txBody>
      </p:sp>
      <p:sp>
        <p:nvSpPr>
          <p:cNvPr name="TextBox 40" id="40"/>
          <p:cNvSpPr txBox="true"/>
          <p:nvPr/>
        </p:nvSpPr>
        <p:spPr>
          <a:xfrm rot="0">
            <a:off x="1161817" y="5352712"/>
            <a:ext cx="3175318" cy="339725"/>
          </a:xfrm>
          <a:prstGeom prst="rect">
            <a:avLst/>
          </a:prstGeom>
        </p:spPr>
        <p:txBody>
          <a:bodyPr anchor="t" rtlCol="false" tIns="0" lIns="0" bIns="0" rIns="0">
            <a:spAutoFit/>
          </a:bodyPr>
          <a:lstStyle/>
          <a:p>
            <a:pPr algn="l">
              <a:lnSpc>
                <a:spcPts val="2500"/>
              </a:lnSpc>
            </a:pPr>
            <a:r>
              <a:rPr lang="en-US" sz="2500" b="true">
                <a:solidFill>
                  <a:srgbClr val="49C3FB"/>
                </a:solidFill>
                <a:latin typeface="Garet Bold"/>
                <a:ea typeface="Garet Bold"/>
                <a:cs typeface="Garet Bold"/>
                <a:sym typeface="Garet Bold"/>
              </a:rPr>
              <a:t>Pertanyaan utama:</a:t>
            </a:r>
          </a:p>
        </p:txBody>
      </p:sp>
      <p:sp>
        <p:nvSpPr>
          <p:cNvPr name="TextBox 41" id="41"/>
          <p:cNvSpPr txBox="true"/>
          <p:nvPr/>
        </p:nvSpPr>
        <p:spPr>
          <a:xfrm rot="0">
            <a:off x="1161817" y="5921037"/>
            <a:ext cx="8569240" cy="1163320"/>
          </a:xfrm>
          <a:prstGeom prst="rect">
            <a:avLst/>
          </a:prstGeom>
        </p:spPr>
        <p:txBody>
          <a:bodyPr anchor="t" rtlCol="false" tIns="0" lIns="0" bIns="0" rIns="0">
            <a:spAutoFit/>
          </a:bodyPr>
          <a:lstStyle/>
          <a:p>
            <a:pPr algn="l" marL="496567" indent="-248284" lvl="1">
              <a:lnSpc>
                <a:spcPts val="2299"/>
              </a:lnSpc>
              <a:buFont typeface="Arial"/>
              <a:buChar char="•"/>
            </a:pPr>
            <a:r>
              <a:rPr lang="en-US" sz="2299">
                <a:solidFill>
                  <a:srgbClr val="FFFFFF"/>
                </a:solidFill>
                <a:latin typeface="Poppins"/>
                <a:ea typeface="Poppins"/>
                <a:cs typeface="Poppins"/>
                <a:sym typeface="Poppins"/>
              </a:rPr>
              <a:t>Nasabah seperti apa yang berisiko gagal bayar (TARGET=1)?</a:t>
            </a:r>
          </a:p>
          <a:p>
            <a:pPr algn="l" marL="496567" indent="-248284" lvl="1">
              <a:lnSpc>
                <a:spcPts val="2299"/>
              </a:lnSpc>
              <a:buFont typeface="Arial"/>
              <a:buChar char="•"/>
            </a:pPr>
            <a:r>
              <a:rPr lang="en-US" sz="2299">
                <a:solidFill>
                  <a:srgbClr val="FFFFFF"/>
                </a:solidFill>
                <a:latin typeface="Poppins"/>
                <a:ea typeface="Poppins"/>
                <a:cs typeface="Poppins"/>
                <a:sym typeface="Poppins"/>
              </a:rPr>
              <a:t>Bagaimana model machine learning bisa membantu mem-filter aplikasi berisiko tinggi?</a:t>
            </a:r>
          </a:p>
        </p:txBody>
      </p:sp>
      <p:sp>
        <p:nvSpPr>
          <p:cNvPr name="TextBox 42" id="42"/>
          <p:cNvSpPr txBox="true"/>
          <p:nvPr/>
        </p:nvSpPr>
        <p:spPr>
          <a:xfrm rot="0">
            <a:off x="1121892" y="7312957"/>
            <a:ext cx="1225867" cy="339725"/>
          </a:xfrm>
          <a:prstGeom prst="rect">
            <a:avLst/>
          </a:prstGeom>
        </p:spPr>
        <p:txBody>
          <a:bodyPr anchor="t" rtlCol="false" tIns="0" lIns="0" bIns="0" rIns="0">
            <a:spAutoFit/>
          </a:bodyPr>
          <a:lstStyle/>
          <a:p>
            <a:pPr algn="l">
              <a:lnSpc>
                <a:spcPts val="2500"/>
              </a:lnSpc>
            </a:pPr>
            <a:r>
              <a:rPr lang="en-US" sz="2500" b="true">
                <a:solidFill>
                  <a:srgbClr val="49C3FB"/>
                </a:solidFill>
                <a:latin typeface="Garet Bold"/>
                <a:ea typeface="Garet Bold"/>
                <a:cs typeface="Garet Bold"/>
                <a:sym typeface="Garet Bold"/>
              </a:rPr>
              <a:t>Tujuan:</a:t>
            </a:r>
          </a:p>
        </p:txBody>
      </p:sp>
      <p:sp>
        <p:nvSpPr>
          <p:cNvPr name="TextBox 43" id="43"/>
          <p:cNvSpPr txBox="true"/>
          <p:nvPr/>
        </p:nvSpPr>
        <p:spPr>
          <a:xfrm rot="0">
            <a:off x="1161817" y="7776507"/>
            <a:ext cx="8569240" cy="1163320"/>
          </a:xfrm>
          <a:prstGeom prst="rect">
            <a:avLst/>
          </a:prstGeom>
        </p:spPr>
        <p:txBody>
          <a:bodyPr anchor="t" rtlCol="false" tIns="0" lIns="0" bIns="0" rIns="0">
            <a:spAutoFit/>
          </a:bodyPr>
          <a:lstStyle/>
          <a:p>
            <a:pPr algn="l" marL="496567" indent="-248284" lvl="1">
              <a:lnSpc>
                <a:spcPts val="2299"/>
              </a:lnSpc>
              <a:buFont typeface="Arial"/>
              <a:buChar char="•"/>
            </a:pPr>
            <a:r>
              <a:rPr lang="en-US" sz="2299">
                <a:solidFill>
                  <a:srgbClr val="FFFFFF"/>
                </a:solidFill>
                <a:latin typeface="Poppins"/>
                <a:ea typeface="Poppins"/>
                <a:cs typeface="Poppins"/>
                <a:sym typeface="Poppins"/>
              </a:rPr>
              <a:t>Membangun model klasifikasi untuk memprediksi probabilitas gagal bayar.</a:t>
            </a:r>
          </a:p>
          <a:p>
            <a:pPr algn="l" marL="496567" indent="-248284" lvl="1">
              <a:lnSpc>
                <a:spcPts val="2299"/>
              </a:lnSpc>
              <a:buFont typeface="Arial"/>
              <a:buChar char="•"/>
            </a:pPr>
            <a:r>
              <a:rPr lang="en-US" sz="2299">
                <a:solidFill>
                  <a:srgbClr val="FFFFFF"/>
                </a:solidFill>
                <a:latin typeface="Poppins"/>
                <a:ea typeface="Poppins"/>
                <a:cs typeface="Poppins"/>
                <a:sym typeface="Poppins"/>
              </a:rPr>
              <a:t>Memberikan rekomendasi kebijakan kredit &amp; kampanye marketing berdasarkan insight data.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true" flipV="false" rot="0">
            <a:off x="13551407" y="8525434"/>
            <a:ext cx="4736593" cy="2889322"/>
          </a:xfrm>
          <a:custGeom>
            <a:avLst/>
            <a:gdLst/>
            <a:ahLst/>
            <a:cxnLst/>
            <a:rect r="r" b="b" t="t" l="l"/>
            <a:pathLst>
              <a:path h="2889322" w="4736593">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98042" y="-2181080"/>
            <a:ext cx="9367640" cy="5714260"/>
          </a:xfrm>
          <a:custGeom>
            <a:avLst/>
            <a:gdLst/>
            <a:ahLst/>
            <a:cxnLst/>
            <a:rect r="r" b="b" t="t" l="l"/>
            <a:pathLst>
              <a:path h="5714260" w="936764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6057542"/>
            <a:ext cx="861681" cy="86168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6" id="6"/>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grpSp>
        <p:nvGrpSpPr>
          <p:cNvPr name="Group 7" id="7"/>
          <p:cNvGrpSpPr/>
          <p:nvPr/>
        </p:nvGrpSpPr>
        <p:grpSpPr>
          <a:xfrm rot="0">
            <a:off x="1028700" y="2891306"/>
            <a:ext cx="861681" cy="8616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9" id="9"/>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10" id="10"/>
          <p:cNvSpPr/>
          <p:nvPr/>
        </p:nvSpPr>
        <p:spPr>
          <a:xfrm flipH="false" flipV="false" rot="0">
            <a:off x="15087276" y="676050"/>
            <a:ext cx="2172024" cy="855235"/>
          </a:xfrm>
          <a:custGeom>
            <a:avLst/>
            <a:gdLst/>
            <a:ahLst/>
            <a:cxnLst/>
            <a:rect r="r" b="b" t="t" l="l"/>
            <a:pathLst>
              <a:path h="855235" w="2172024">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98542" y="6231951"/>
            <a:ext cx="521997" cy="512862"/>
          </a:xfrm>
          <a:custGeom>
            <a:avLst/>
            <a:gdLst/>
            <a:ahLst/>
            <a:cxnLst/>
            <a:rect r="r" b="b" t="t" l="l"/>
            <a:pathLst>
              <a:path h="512862" w="521997">
                <a:moveTo>
                  <a:pt x="0" y="0"/>
                </a:moveTo>
                <a:lnTo>
                  <a:pt x="521997" y="0"/>
                </a:lnTo>
                <a:lnTo>
                  <a:pt x="521997" y="512862"/>
                </a:lnTo>
                <a:lnTo>
                  <a:pt x="0" y="5128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255914" y="3082937"/>
            <a:ext cx="407254" cy="478419"/>
          </a:xfrm>
          <a:custGeom>
            <a:avLst/>
            <a:gdLst/>
            <a:ahLst/>
            <a:cxnLst/>
            <a:rect r="r" b="b" t="t" l="l"/>
            <a:pathLst>
              <a:path h="478419" w="407254">
                <a:moveTo>
                  <a:pt x="0" y="0"/>
                </a:moveTo>
                <a:lnTo>
                  <a:pt x="407254" y="0"/>
                </a:lnTo>
                <a:lnTo>
                  <a:pt x="407254" y="478419"/>
                </a:lnTo>
                <a:lnTo>
                  <a:pt x="0" y="478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9572631" y="3322146"/>
            <a:ext cx="8038116" cy="5262190"/>
          </a:xfrm>
          <a:custGeom>
            <a:avLst/>
            <a:gdLst/>
            <a:ahLst/>
            <a:cxnLst/>
            <a:rect r="r" b="b" t="t" l="l"/>
            <a:pathLst>
              <a:path h="5262190" w="8038116">
                <a:moveTo>
                  <a:pt x="0" y="0"/>
                </a:moveTo>
                <a:lnTo>
                  <a:pt x="8038116" y="0"/>
                </a:lnTo>
                <a:lnTo>
                  <a:pt x="8038116" y="5262190"/>
                </a:lnTo>
                <a:lnTo>
                  <a:pt x="0" y="5262190"/>
                </a:lnTo>
                <a:lnTo>
                  <a:pt x="0" y="0"/>
                </a:lnTo>
                <a:close/>
              </a:path>
            </a:pathLst>
          </a:custGeom>
          <a:blipFill>
            <a:blip r:embed="rId10"/>
            <a:stretch>
              <a:fillRect l="0" t="0" r="0" b="0"/>
            </a:stretch>
          </a:blipFill>
        </p:spPr>
      </p:sp>
      <p:sp>
        <p:nvSpPr>
          <p:cNvPr name="TextBox 14" id="14"/>
          <p:cNvSpPr txBox="true"/>
          <p:nvPr/>
        </p:nvSpPr>
        <p:spPr>
          <a:xfrm rot="0">
            <a:off x="2280906" y="6176163"/>
            <a:ext cx="4959350" cy="555872"/>
          </a:xfrm>
          <a:prstGeom prst="rect">
            <a:avLst/>
          </a:prstGeom>
        </p:spPr>
        <p:txBody>
          <a:bodyPr anchor="t" rtlCol="false" tIns="0" lIns="0" bIns="0" rIns="0">
            <a:spAutoFit/>
          </a:bodyPr>
          <a:lstStyle/>
          <a:p>
            <a:pPr algn="l" marL="0" indent="0" lvl="0">
              <a:lnSpc>
                <a:spcPts val="4259"/>
              </a:lnSpc>
              <a:spcBef>
                <a:spcPct val="0"/>
              </a:spcBef>
            </a:pPr>
            <a:r>
              <a:rPr lang="en-US" b="true" sz="4259" strike="noStrike" u="none">
                <a:solidFill>
                  <a:srgbClr val="49C3FB"/>
                </a:solidFill>
                <a:latin typeface="Garet Bold"/>
                <a:ea typeface="Garet Bold"/>
                <a:cs typeface="Garet Bold"/>
                <a:sym typeface="Garet Bold"/>
              </a:rPr>
              <a:t>Tabel Pendukung</a:t>
            </a:r>
          </a:p>
        </p:txBody>
      </p:sp>
      <p:sp>
        <p:nvSpPr>
          <p:cNvPr name="TextBox 15" id="15"/>
          <p:cNvSpPr txBox="true"/>
          <p:nvPr/>
        </p:nvSpPr>
        <p:spPr>
          <a:xfrm rot="0">
            <a:off x="2281087" y="3107192"/>
            <a:ext cx="3610923" cy="563455"/>
          </a:xfrm>
          <a:prstGeom prst="rect">
            <a:avLst/>
          </a:prstGeom>
        </p:spPr>
        <p:txBody>
          <a:bodyPr anchor="t" rtlCol="false" tIns="0" lIns="0" bIns="0" rIns="0">
            <a:spAutoFit/>
          </a:bodyPr>
          <a:lstStyle/>
          <a:p>
            <a:pPr algn="l">
              <a:lnSpc>
                <a:spcPts val="4259"/>
              </a:lnSpc>
              <a:spcBef>
                <a:spcPct val="0"/>
              </a:spcBef>
            </a:pPr>
            <a:r>
              <a:rPr lang="en-US" b="true" sz="4259">
                <a:solidFill>
                  <a:srgbClr val="49C3FB"/>
                </a:solidFill>
                <a:latin typeface="Garet Bold"/>
                <a:ea typeface="Garet Bold"/>
                <a:cs typeface="Garet Bold"/>
                <a:sym typeface="Garet Bold"/>
              </a:rPr>
              <a:t>Tabel Utama</a:t>
            </a:r>
          </a:p>
        </p:txBody>
      </p:sp>
      <p:sp>
        <p:nvSpPr>
          <p:cNvPr name="TextBox 16" id="16"/>
          <p:cNvSpPr txBox="true"/>
          <p:nvPr/>
        </p:nvSpPr>
        <p:spPr>
          <a:xfrm rot="0">
            <a:off x="1028700" y="1656503"/>
            <a:ext cx="14679357" cy="1044303"/>
          </a:xfrm>
          <a:prstGeom prst="rect">
            <a:avLst/>
          </a:prstGeom>
        </p:spPr>
        <p:txBody>
          <a:bodyPr anchor="t" rtlCol="false" tIns="0" lIns="0" bIns="0" rIns="0">
            <a:spAutoFit/>
          </a:bodyPr>
          <a:lstStyle/>
          <a:p>
            <a:pPr algn="l">
              <a:lnSpc>
                <a:spcPts val="7852"/>
              </a:lnSpc>
            </a:pPr>
            <a:r>
              <a:rPr lang="en-US" sz="7852" b="true">
                <a:solidFill>
                  <a:srgbClr val="FFFFFF"/>
                </a:solidFill>
                <a:latin typeface="Garet Bold"/>
                <a:ea typeface="Garet Bold"/>
                <a:cs typeface="Garet Bold"/>
                <a:sym typeface="Garet Bold"/>
              </a:rPr>
              <a:t>DATASET YANG DIGUNAKAN</a:t>
            </a:r>
          </a:p>
        </p:txBody>
      </p:sp>
      <p:sp>
        <p:nvSpPr>
          <p:cNvPr name="TextBox 17" id="17"/>
          <p:cNvSpPr txBox="true"/>
          <p:nvPr/>
        </p:nvSpPr>
        <p:spPr>
          <a:xfrm rot="0">
            <a:off x="1890381" y="6881123"/>
            <a:ext cx="7682250" cy="2730881"/>
          </a:xfrm>
          <a:prstGeom prst="rect">
            <a:avLst/>
          </a:prstGeom>
        </p:spPr>
        <p:txBody>
          <a:bodyPr anchor="t" rtlCol="false" tIns="0" lIns="0" bIns="0" rIns="0">
            <a:spAutoFit/>
          </a:bodyPr>
          <a:lstStyle/>
          <a:p>
            <a:pPr algn="l" marL="496567" indent="-248284" lvl="1">
              <a:lnSpc>
                <a:spcPts val="3081"/>
              </a:lnSpc>
              <a:spcBef>
                <a:spcPct val="0"/>
              </a:spcBef>
              <a:buFont typeface="Arial"/>
              <a:buChar char="•"/>
            </a:pPr>
            <a:r>
              <a:rPr lang="en-US" sz="2299">
                <a:solidFill>
                  <a:srgbClr val="FFFFFF"/>
                </a:solidFill>
                <a:latin typeface="Poppins"/>
                <a:ea typeface="Poppins"/>
                <a:cs typeface="Poppins"/>
                <a:sym typeface="Poppins"/>
              </a:rPr>
              <a:t>B</a:t>
            </a:r>
            <a:r>
              <a:rPr lang="en-US" sz="2299" strike="noStrike" u="none">
                <a:solidFill>
                  <a:srgbClr val="FFFFFF"/>
                </a:solidFill>
                <a:latin typeface="Poppins"/>
                <a:ea typeface="Poppins"/>
                <a:cs typeface="Poppins"/>
                <a:sym typeface="Poppins"/>
              </a:rPr>
              <a:t>ureau &amp; bureau_balance → riwayat kredit di lembaga lain.</a:t>
            </a:r>
          </a:p>
          <a:p>
            <a:pPr algn="l" marL="496567" indent="-248284" lvl="1">
              <a:lnSpc>
                <a:spcPts val="3081"/>
              </a:lnSpc>
              <a:spcBef>
                <a:spcPct val="0"/>
              </a:spcBef>
              <a:buFont typeface="Arial"/>
              <a:buChar char="•"/>
            </a:pPr>
            <a:r>
              <a:rPr lang="en-US" sz="2299" strike="noStrike" u="none">
                <a:solidFill>
                  <a:srgbClr val="FFFFFF"/>
                </a:solidFill>
                <a:latin typeface="Poppins"/>
                <a:ea typeface="Poppins"/>
                <a:cs typeface="Poppins"/>
                <a:sym typeface="Poppins"/>
              </a:rPr>
              <a:t>previous_application → semua aplikasi Home Credit sebelumnya.</a:t>
            </a:r>
          </a:p>
          <a:p>
            <a:pPr algn="l" marL="496567" indent="-248284" lvl="1">
              <a:lnSpc>
                <a:spcPts val="3081"/>
              </a:lnSpc>
              <a:spcBef>
                <a:spcPct val="0"/>
              </a:spcBef>
              <a:buFont typeface="Arial"/>
              <a:buChar char="•"/>
            </a:pPr>
            <a:r>
              <a:rPr lang="en-US" sz="2299" strike="noStrike" u="none">
                <a:solidFill>
                  <a:srgbClr val="FFFFFF"/>
                </a:solidFill>
                <a:latin typeface="Poppins"/>
                <a:ea typeface="Poppins"/>
                <a:cs typeface="Poppins"/>
                <a:sym typeface="Poppins"/>
              </a:rPr>
              <a:t>POS_CASH_balance, installments_payments, credit_card_balance → histori pembayaran &amp; saldo bulanan di Home Credit.</a:t>
            </a:r>
          </a:p>
        </p:txBody>
      </p:sp>
      <p:sp>
        <p:nvSpPr>
          <p:cNvPr name="TextBox 18" id="18"/>
          <p:cNvSpPr txBox="true"/>
          <p:nvPr/>
        </p:nvSpPr>
        <p:spPr>
          <a:xfrm rot="0">
            <a:off x="1890381" y="3792033"/>
            <a:ext cx="6809070" cy="1949831"/>
          </a:xfrm>
          <a:prstGeom prst="rect">
            <a:avLst/>
          </a:prstGeom>
        </p:spPr>
        <p:txBody>
          <a:bodyPr anchor="t" rtlCol="false" tIns="0" lIns="0" bIns="0" rIns="0">
            <a:spAutoFit/>
          </a:bodyPr>
          <a:lstStyle/>
          <a:p>
            <a:pPr algn="l" marL="496567" indent="-248284" lvl="1">
              <a:lnSpc>
                <a:spcPts val="3081"/>
              </a:lnSpc>
              <a:buFont typeface="Arial"/>
              <a:buChar char="•"/>
            </a:pPr>
            <a:r>
              <a:rPr lang="en-US" sz="2299">
                <a:solidFill>
                  <a:srgbClr val="FFFFFF"/>
                </a:solidFill>
                <a:latin typeface="Poppins"/>
                <a:ea typeface="Poppins"/>
                <a:cs typeface="Poppins"/>
                <a:sym typeface="Poppins"/>
              </a:rPr>
              <a:t>application_train.csv </a:t>
            </a:r>
          </a:p>
          <a:p>
            <a:pPr algn="l">
              <a:lnSpc>
                <a:spcPts val="3081"/>
              </a:lnSpc>
            </a:pPr>
            <a:r>
              <a:rPr lang="en-US" sz="2299">
                <a:solidFill>
                  <a:srgbClr val="FFFFFF"/>
                </a:solidFill>
                <a:latin typeface="Poppins"/>
                <a:ea typeface="Poppins"/>
                <a:cs typeface="Poppins"/>
                <a:sym typeface="Poppins"/>
              </a:rPr>
              <a:t>   → data aplikasi + kolom TARGET.</a:t>
            </a:r>
          </a:p>
          <a:p>
            <a:pPr algn="l" marL="496567" indent="-248284" lvl="1">
              <a:lnSpc>
                <a:spcPts val="3081"/>
              </a:lnSpc>
              <a:buFont typeface="Arial"/>
              <a:buChar char="•"/>
            </a:pPr>
            <a:r>
              <a:rPr lang="en-US" sz="2299">
                <a:solidFill>
                  <a:srgbClr val="FFFFFF"/>
                </a:solidFill>
                <a:latin typeface="Poppins"/>
                <a:ea typeface="Poppins"/>
                <a:cs typeface="Poppins"/>
                <a:sym typeface="Poppins"/>
              </a:rPr>
              <a:t>application_test.csv </a:t>
            </a:r>
          </a:p>
          <a:p>
            <a:pPr algn="l">
              <a:lnSpc>
                <a:spcPts val="3081"/>
              </a:lnSpc>
            </a:pPr>
            <a:r>
              <a:rPr lang="en-US" sz="2299">
                <a:solidFill>
                  <a:srgbClr val="FFFFFF"/>
                </a:solidFill>
                <a:latin typeface="Poppins"/>
                <a:ea typeface="Poppins"/>
                <a:cs typeface="Poppins"/>
                <a:sym typeface="Poppins"/>
              </a:rPr>
              <a:t>   → data aplikasi tanpa TARGET.</a:t>
            </a:r>
          </a:p>
          <a:p>
            <a:pPr algn="l" marL="496567" indent="-248284" lvl="1">
              <a:lnSpc>
                <a:spcPts val="3081"/>
              </a:lnSpc>
              <a:buFont typeface="Arial"/>
              <a:buChar char="•"/>
            </a:pPr>
            <a:r>
              <a:rPr lang="en-US" sz="2299">
                <a:solidFill>
                  <a:srgbClr val="FFFFFF"/>
                </a:solidFill>
                <a:latin typeface="Poppins"/>
                <a:ea typeface="Poppins"/>
                <a:cs typeface="Poppins"/>
                <a:sym typeface="Poppins"/>
              </a:rPr>
              <a:t>“1 baris = 1 pengajuan kredit nasabah.”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false" flipV="false" rot="0">
            <a:off x="15087276" y="1028700"/>
            <a:ext cx="2172024" cy="855235"/>
          </a:xfrm>
          <a:custGeom>
            <a:avLst/>
            <a:gdLst/>
            <a:ahLst/>
            <a:cxnLst/>
            <a:rect r="r" b="b" t="t" l="l"/>
            <a:pathLst>
              <a:path h="855235" w="2172024">
                <a:moveTo>
                  <a:pt x="0" y="0"/>
                </a:moveTo>
                <a:lnTo>
                  <a:pt x="2172024" y="0"/>
                </a:lnTo>
                <a:lnTo>
                  <a:pt x="2172024" y="855235"/>
                </a:lnTo>
                <a:lnTo>
                  <a:pt x="0" y="8552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339597" y="-589411"/>
            <a:ext cx="4736593" cy="2889322"/>
          </a:xfrm>
          <a:custGeom>
            <a:avLst/>
            <a:gdLst/>
            <a:ahLst/>
            <a:cxnLst/>
            <a:rect r="r" b="b" t="t" l="l"/>
            <a:pathLst>
              <a:path h="2889322" w="4736593">
                <a:moveTo>
                  <a:pt x="0" y="2889321"/>
                </a:moveTo>
                <a:lnTo>
                  <a:pt x="4736594" y="2889321"/>
                </a:lnTo>
                <a:lnTo>
                  <a:pt x="4736594" y="0"/>
                </a:lnTo>
                <a:lnTo>
                  <a:pt x="0" y="0"/>
                </a:lnTo>
                <a:lnTo>
                  <a:pt x="0" y="288932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622999" y="1181100"/>
            <a:ext cx="9457247" cy="2028250"/>
          </a:xfrm>
          <a:prstGeom prst="rect">
            <a:avLst/>
          </a:prstGeom>
        </p:spPr>
        <p:txBody>
          <a:bodyPr anchor="t" rtlCol="false" tIns="0" lIns="0" bIns="0" rIns="0">
            <a:spAutoFit/>
          </a:bodyPr>
          <a:lstStyle/>
          <a:p>
            <a:pPr algn="ctr">
              <a:lnSpc>
                <a:spcPts val="7852"/>
              </a:lnSpc>
            </a:pPr>
            <a:r>
              <a:rPr lang="en-US" b="true" sz="7852">
                <a:solidFill>
                  <a:srgbClr val="FFFFFF"/>
                </a:solidFill>
                <a:latin typeface="Garet Bold"/>
                <a:ea typeface="Garet Bold"/>
                <a:cs typeface="Garet Bold"/>
                <a:sym typeface="Garet Bold"/>
              </a:rPr>
              <a:t>DATA PRE‑PROCESSING</a:t>
            </a:r>
          </a:p>
        </p:txBody>
      </p:sp>
      <p:grpSp>
        <p:nvGrpSpPr>
          <p:cNvPr name="Group 5" id="5"/>
          <p:cNvGrpSpPr/>
          <p:nvPr/>
        </p:nvGrpSpPr>
        <p:grpSpPr>
          <a:xfrm rot="0">
            <a:off x="5257914" y="3317936"/>
            <a:ext cx="2409379" cy="2715813"/>
            <a:chOff x="0" y="0"/>
            <a:chExt cx="3212505" cy="3621084"/>
          </a:xfrm>
        </p:grpSpPr>
        <p:grpSp>
          <p:nvGrpSpPr>
            <p:cNvPr name="Group 6" id="6"/>
            <p:cNvGrpSpPr/>
            <p:nvPr/>
          </p:nvGrpSpPr>
          <p:grpSpPr>
            <a:xfrm rot="0">
              <a:off x="482523" y="0"/>
              <a:ext cx="2247459" cy="224745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9" id="9"/>
            <p:cNvSpPr/>
            <p:nvPr/>
          </p:nvSpPr>
          <p:spPr>
            <a:xfrm flipH="false" flipV="false" rot="0">
              <a:off x="900743" y="474661"/>
              <a:ext cx="1411019" cy="1298138"/>
            </a:xfrm>
            <a:custGeom>
              <a:avLst/>
              <a:gdLst/>
              <a:ahLst/>
              <a:cxnLst/>
              <a:rect r="r" b="b" t="t" l="l"/>
              <a:pathLst>
                <a:path h="1298138" w="1411019">
                  <a:moveTo>
                    <a:pt x="0" y="0"/>
                  </a:moveTo>
                  <a:lnTo>
                    <a:pt x="1411019" y="0"/>
                  </a:lnTo>
                  <a:lnTo>
                    <a:pt x="1411019" y="1298137"/>
                  </a:lnTo>
                  <a:lnTo>
                    <a:pt x="0" y="12981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0" y="2604026"/>
              <a:ext cx="3212505" cy="1017058"/>
            </a:xfrm>
            <a:prstGeom prst="rect">
              <a:avLst/>
            </a:prstGeom>
          </p:spPr>
          <p:txBody>
            <a:bodyPr anchor="t" rtlCol="false" tIns="0" lIns="0" bIns="0" rIns="0">
              <a:spAutoFit/>
            </a:bodyPr>
            <a:lstStyle/>
            <a:p>
              <a:pPr algn="ctr" marL="0" indent="0" lvl="0">
                <a:lnSpc>
                  <a:spcPts val="3049"/>
                </a:lnSpc>
                <a:spcBef>
                  <a:spcPct val="0"/>
                </a:spcBef>
              </a:pPr>
              <a:r>
                <a:rPr lang="en-US" b="true" sz="2499" strike="noStrike" u="none">
                  <a:solidFill>
                    <a:srgbClr val="FFFFFF"/>
                  </a:solidFill>
                  <a:latin typeface="Garet Bold"/>
                  <a:ea typeface="Garet Bold"/>
                  <a:cs typeface="Garet Bold"/>
                  <a:sym typeface="Garet Bold"/>
                </a:rPr>
                <a:t>Feature engineering</a:t>
              </a:r>
            </a:p>
          </p:txBody>
        </p:sp>
      </p:grpSp>
      <p:grpSp>
        <p:nvGrpSpPr>
          <p:cNvPr name="Group 11" id="11"/>
          <p:cNvGrpSpPr/>
          <p:nvPr/>
        </p:nvGrpSpPr>
        <p:grpSpPr>
          <a:xfrm rot="0">
            <a:off x="1311479" y="3317936"/>
            <a:ext cx="1893034" cy="2715813"/>
            <a:chOff x="0" y="0"/>
            <a:chExt cx="2524046" cy="3621084"/>
          </a:xfrm>
        </p:grpSpPr>
        <p:grpSp>
          <p:nvGrpSpPr>
            <p:cNvPr name="Group 12" id="12"/>
            <p:cNvGrpSpPr/>
            <p:nvPr/>
          </p:nvGrpSpPr>
          <p:grpSpPr>
            <a:xfrm rot="0">
              <a:off x="138293" y="0"/>
              <a:ext cx="2247459" cy="224745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14" id="14"/>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15" id="15"/>
            <p:cNvSpPr/>
            <p:nvPr/>
          </p:nvSpPr>
          <p:spPr>
            <a:xfrm flipH="false" flipV="false" rot="0">
              <a:off x="611327" y="474661"/>
              <a:ext cx="1301391" cy="1298138"/>
            </a:xfrm>
            <a:custGeom>
              <a:avLst/>
              <a:gdLst/>
              <a:ahLst/>
              <a:cxnLst/>
              <a:rect r="r" b="b" t="t" l="l"/>
              <a:pathLst>
                <a:path h="1298138" w="1301391">
                  <a:moveTo>
                    <a:pt x="0" y="0"/>
                  </a:moveTo>
                  <a:lnTo>
                    <a:pt x="1301391" y="0"/>
                  </a:lnTo>
                  <a:lnTo>
                    <a:pt x="1301391" y="1298137"/>
                  </a:lnTo>
                  <a:lnTo>
                    <a:pt x="0" y="12981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0" y="2604026"/>
              <a:ext cx="2524046" cy="1017058"/>
            </a:xfrm>
            <a:prstGeom prst="rect">
              <a:avLst/>
            </a:prstGeom>
          </p:spPr>
          <p:txBody>
            <a:bodyPr anchor="t" rtlCol="false" tIns="0" lIns="0" bIns="0" rIns="0">
              <a:spAutoFit/>
            </a:bodyPr>
            <a:lstStyle/>
            <a:p>
              <a:pPr algn="ctr">
                <a:lnSpc>
                  <a:spcPts val="3049"/>
                </a:lnSpc>
              </a:pPr>
              <a:r>
                <a:rPr lang="en-US" b="true" sz="2499">
                  <a:solidFill>
                    <a:srgbClr val="FFFFFF"/>
                  </a:solidFill>
                  <a:latin typeface="Garet Bold"/>
                  <a:ea typeface="Garet Bold"/>
                  <a:cs typeface="Garet Bold"/>
                  <a:sym typeface="Garet Bold"/>
                </a:rPr>
                <a:t>Data Cleaning</a:t>
              </a:r>
            </a:p>
          </p:txBody>
        </p:sp>
      </p:grpSp>
      <p:grpSp>
        <p:nvGrpSpPr>
          <p:cNvPr name="Group 17" id="17"/>
          <p:cNvGrpSpPr/>
          <p:nvPr/>
        </p:nvGrpSpPr>
        <p:grpSpPr>
          <a:xfrm rot="0">
            <a:off x="9720692" y="3317936"/>
            <a:ext cx="2658785" cy="2715813"/>
            <a:chOff x="0" y="0"/>
            <a:chExt cx="3545046" cy="3621084"/>
          </a:xfrm>
        </p:grpSpPr>
        <p:grpSp>
          <p:nvGrpSpPr>
            <p:cNvPr name="Group 18" id="18"/>
            <p:cNvGrpSpPr/>
            <p:nvPr/>
          </p:nvGrpSpPr>
          <p:grpSpPr>
            <a:xfrm rot="0">
              <a:off x="648794" y="0"/>
              <a:ext cx="2247459" cy="224745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20" id="20"/>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21" id="21"/>
            <p:cNvSpPr/>
            <p:nvPr/>
          </p:nvSpPr>
          <p:spPr>
            <a:xfrm flipH="false" flipV="false" rot="0">
              <a:off x="1185927" y="474661"/>
              <a:ext cx="1173192" cy="1298138"/>
            </a:xfrm>
            <a:custGeom>
              <a:avLst/>
              <a:gdLst/>
              <a:ahLst/>
              <a:cxnLst/>
              <a:rect r="r" b="b" t="t" l="l"/>
              <a:pathLst>
                <a:path h="1298138" w="1173192">
                  <a:moveTo>
                    <a:pt x="0" y="0"/>
                  </a:moveTo>
                  <a:lnTo>
                    <a:pt x="1173192" y="0"/>
                  </a:lnTo>
                  <a:lnTo>
                    <a:pt x="1173192" y="1298137"/>
                  </a:lnTo>
                  <a:lnTo>
                    <a:pt x="0" y="12981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0" y="2604026"/>
              <a:ext cx="3545046" cy="1017058"/>
            </a:xfrm>
            <a:prstGeom prst="rect">
              <a:avLst/>
            </a:prstGeom>
          </p:spPr>
          <p:txBody>
            <a:bodyPr anchor="t" rtlCol="false" tIns="0" lIns="0" bIns="0" rIns="0">
              <a:spAutoFit/>
            </a:bodyPr>
            <a:lstStyle/>
            <a:p>
              <a:pPr algn="ctr" marL="0" indent="0" lvl="0">
                <a:lnSpc>
                  <a:spcPts val="3049"/>
                </a:lnSpc>
                <a:spcBef>
                  <a:spcPct val="0"/>
                </a:spcBef>
              </a:pPr>
              <a:r>
                <a:rPr lang="en-US" b="true" sz="2499" strike="noStrike" u="none">
                  <a:solidFill>
                    <a:srgbClr val="FFFFFF"/>
                  </a:solidFill>
                  <a:latin typeface="Garet Bold"/>
                  <a:ea typeface="Garet Bold"/>
                  <a:cs typeface="Garet Bold"/>
                  <a:sym typeface="Garet Bold"/>
                </a:rPr>
                <a:t>Agregasi tabel lain</a:t>
              </a:r>
            </a:p>
          </p:txBody>
        </p:sp>
      </p:grpSp>
      <p:grpSp>
        <p:nvGrpSpPr>
          <p:cNvPr name="Group 23" id="23"/>
          <p:cNvGrpSpPr/>
          <p:nvPr/>
        </p:nvGrpSpPr>
        <p:grpSpPr>
          <a:xfrm rot="0">
            <a:off x="14436877" y="3317936"/>
            <a:ext cx="2658785" cy="2715813"/>
            <a:chOff x="0" y="0"/>
            <a:chExt cx="3545046" cy="3621084"/>
          </a:xfrm>
        </p:grpSpPr>
        <p:grpSp>
          <p:nvGrpSpPr>
            <p:cNvPr name="Group 24" id="24"/>
            <p:cNvGrpSpPr/>
            <p:nvPr/>
          </p:nvGrpSpPr>
          <p:grpSpPr>
            <a:xfrm rot="0">
              <a:off x="648794" y="0"/>
              <a:ext cx="2247459" cy="224745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26" id="26"/>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27" id="27"/>
            <p:cNvSpPr/>
            <p:nvPr/>
          </p:nvSpPr>
          <p:spPr>
            <a:xfrm flipH="false" flipV="false" rot="0">
              <a:off x="1046126" y="567127"/>
              <a:ext cx="1452795" cy="1113204"/>
            </a:xfrm>
            <a:custGeom>
              <a:avLst/>
              <a:gdLst/>
              <a:ahLst/>
              <a:cxnLst/>
              <a:rect r="r" b="b" t="t" l="l"/>
              <a:pathLst>
                <a:path h="1113204" w="1452795">
                  <a:moveTo>
                    <a:pt x="0" y="0"/>
                  </a:moveTo>
                  <a:lnTo>
                    <a:pt x="1452795" y="0"/>
                  </a:lnTo>
                  <a:lnTo>
                    <a:pt x="1452795" y="1113205"/>
                  </a:lnTo>
                  <a:lnTo>
                    <a:pt x="0" y="111320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0" y="2604026"/>
              <a:ext cx="3545046" cy="1017058"/>
            </a:xfrm>
            <a:prstGeom prst="rect">
              <a:avLst/>
            </a:prstGeom>
          </p:spPr>
          <p:txBody>
            <a:bodyPr anchor="t" rtlCol="false" tIns="0" lIns="0" bIns="0" rIns="0">
              <a:spAutoFit/>
            </a:bodyPr>
            <a:lstStyle/>
            <a:p>
              <a:pPr algn="ctr" marL="0" indent="0" lvl="0">
                <a:lnSpc>
                  <a:spcPts val="3049"/>
                </a:lnSpc>
                <a:spcBef>
                  <a:spcPct val="0"/>
                </a:spcBef>
              </a:pPr>
              <a:r>
                <a:rPr lang="en-US" b="true" sz="2499" strike="noStrike" u="none">
                  <a:solidFill>
                    <a:srgbClr val="FFFFFF"/>
                  </a:solidFill>
                  <a:latin typeface="Garet Bold"/>
                  <a:ea typeface="Garet Bold"/>
                  <a:cs typeface="Garet Bold"/>
                  <a:sym typeface="Garet Bold"/>
                </a:rPr>
                <a:t>Encoding &amp; scaling</a:t>
              </a:r>
            </a:p>
          </p:txBody>
        </p:sp>
      </p:grpSp>
      <p:sp>
        <p:nvSpPr>
          <p:cNvPr name="TextBox 29" id="29"/>
          <p:cNvSpPr txBox="true"/>
          <p:nvPr/>
        </p:nvSpPr>
        <p:spPr>
          <a:xfrm rot="0">
            <a:off x="321286" y="6324593"/>
            <a:ext cx="3827632" cy="2468118"/>
          </a:xfrm>
          <a:prstGeom prst="rect">
            <a:avLst/>
          </a:prstGeom>
        </p:spPr>
        <p:txBody>
          <a:bodyPr anchor="t" rtlCol="false" tIns="0" lIns="0" bIns="0" rIns="0">
            <a:spAutoFit/>
          </a:bodyPr>
          <a:lstStyle/>
          <a:p>
            <a:pPr algn="ctr" marL="388620" indent="-194310" lvl="1">
              <a:lnSpc>
                <a:spcPts val="2826"/>
              </a:lnSpc>
              <a:buFont typeface="Arial"/>
              <a:buChar char="•"/>
            </a:pPr>
            <a:r>
              <a:rPr lang="en-US" sz="1800">
                <a:solidFill>
                  <a:srgbClr val="FFFFFF"/>
                </a:solidFill>
                <a:latin typeface="Poppins"/>
                <a:ea typeface="Poppins"/>
                <a:cs typeface="Poppins"/>
                <a:sym typeface="Poppins"/>
              </a:rPr>
              <a:t>Menghapus kolom ID dari fitur (SK_ID_CURR dll, hanya dipakai untuk join).</a:t>
            </a:r>
          </a:p>
          <a:p>
            <a:pPr algn="ctr" marL="388620" indent="-194310" lvl="1">
              <a:lnSpc>
                <a:spcPts val="2826"/>
              </a:lnSpc>
              <a:buFont typeface="Arial"/>
              <a:buChar char="•"/>
            </a:pPr>
            <a:r>
              <a:rPr lang="en-US" sz="1800">
                <a:solidFill>
                  <a:srgbClr val="FFFFFF"/>
                </a:solidFill>
                <a:latin typeface="Poppins"/>
                <a:ea typeface="Poppins"/>
                <a:cs typeface="Poppins"/>
                <a:sym typeface="Poppins"/>
              </a:rPr>
              <a:t>Mengisi missing value numerik dengan median; kategorik dengan label “Unknown”.</a:t>
            </a:r>
          </a:p>
        </p:txBody>
      </p:sp>
      <p:sp>
        <p:nvSpPr>
          <p:cNvPr name="TextBox 30" id="30"/>
          <p:cNvSpPr txBox="true"/>
          <p:nvPr/>
        </p:nvSpPr>
        <p:spPr>
          <a:xfrm rot="0">
            <a:off x="8908417" y="6324593"/>
            <a:ext cx="4283336" cy="3172968"/>
          </a:xfrm>
          <a:prstGeom prst="rect">
            <a:avLst/>
          </a:prstGeom>
        </p:spPr>
        <p:txBody>
          <a:bodyPr anchor="t" rtlCol="false" tIns="0" lIns="0" bIns="0" rIns="0">
            <a:spAutoFit/>
          </a:bodyPr>
          <a:lstStyle/>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Dari bureau: jumlah kredit sebelumnya, total debt, maksimum DPD.</a:t>
            </a:r>
          </a:p>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Dari previous_application: jumlah aplikasi sebelumnya, approval rate.</a:t>
            </a:r>
          </a:p>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Dari installments_payments: rate telat bayar (LATE_PAYMENT_RATE).</a:t>
            </a:r>
          </a:p>
        </p:txBody>
      </p:sp>
      <p:sp>
        <p:nvSpPr>
          <p:cNvPr name="TextBox 31" id="31"/>
          <p:cNvSpPr txBox="true"/>
          <p:nvPr/>
        </p:nvSpPr>
        <p:spPr>
          <a:xfrm rot="0">
            <a:off x="4346158" y="6324593"/>
            <a:ext cx="4232889" cy="3172968"/>
          </a:xfrm>
          <a:prstGeom prst="rect">
            <a:avLst/>
          </a:prstGeom>
        </p:spPr>
        <p:txBody>
          <a:bodyPr anchor="t" rtlCol="false" tIns="0" lIns="0" bIns="0" rIns="0">
            <a:spAutoFit/>
          </a:bodyPr>
          <a:lstStyle/>
          <a:p>
            <a:pPr algn="ctr" marL="388620" indent="-194310" lvl="1">
              <a:lnSpc>
                <a:spcPts val="2826"/>
              </a:lnSpc>
              <a:buFont typeface="Arial"/>
              <a:buChar char="•"/>
            </a:pPr>
            <a:r>
              <a:rPr lang="en-US" sz="1800" strike="noStrike" u="none">
                <a:solidFill>
                  <a:srgbClr val="FFFFFF"/>
                </a:solidFill>
                <a:latin typeface="Poppins"/>
                <a:ea typeface="Poppins"/>
                <a:cs typeface="Poppins"/>
                <a:sym typeface="Poppins"/>
              </a:rPr>
              <a:t>AGE_YEARS = -DAYS_BIRTH / 365.</a:t>
            </a:r>
          </a:p>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EMPLOY_YEARS = -DAYS_EMPLOYED / 365.</a:t>
            </a:r>
          </a:p>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CREDIT_INCOME_RATIO = AMT_CREDIT / AMT_INCOME_TOTAL.</a:t>
            </a:r>
          </a:p>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ANNUITY_INCOME_RATIO = AMT_ANNUITY / AMT_INCOME_TOTAL.</a:t>
            </a:r>
          </a:p>
        </p:txBody>
      </p:sp>
      <p:sp>
        <p:nvSpPr>
          <p:cNvPr name="TextBox 32" id="32"/>
          <p:cNvSpPr txBox="true"/>
          <p:nvPr/>
        </p:nvSpPr>
        <p:spPr>
          <a:xfrm rot="0">
            <a:off x="13603309" y="6324593"/>
            <a:ext cx="4325922" cy="1763268"/>
          </a:xfrm>
          <a:prstGeom prst="rect">
            <a:avLst/>
          </a:prstGeom>
        </p:spPr>
        <p:txBody>
          <a:bodyPr anchor="t" rtlCol="false" tIns="0" lIns="0" bIns="0" rIns="0">
            <a:spAutoFit/>
          </a:bodyPr>
          <a:lstStyle/>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One‑hot encoding untuk fitur kategorik (gender, income type, housing type, dll).</a:t>
            </a:r>
          </a:p>
          <a:p>
            <a:pPr algn="ctr" marL="388620" indent="-194310" lvl="1">
              <a:lnSpc>
                <a:spcPts val="2826"/>
              </a:lnSpc>
              <a:spcBef>
                <a:spcPct val="0"/>
              </a:spcBef>
              <a:buFont typeface="Arial"/>
              <a:buChar char="•"/>
            </a:pPr>
            <a:r>
              <a:rPr lang="en-US" sz="1800" strike="noStrike" u="none">
                <a:solidFill>
                  <a:srgbClr val="FFFFFF"/>
                </a:solidFill>
                <a:latin typeface="Poppins"/>
                <a:ea typeface="Poppins"/>
                <a:cs typeface="Poppins"/>
                <a:sym typeface="Poppins"/>
              </a:rPr>
              <a:t>StandardScaler untuk fitur numerik.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false" flipV="true" rot="0">
            <a:off x="0" y="-567181"/>
            <a:ext cx="5786450" cy="3529734"/>
          </a:xfrm>
          <a:custGeom>
            <a:avLst/>
            <a:gdLst/>
            <a:ahLst/>
            <a:cxnLst/>
            <a:rect r="r" b="b" t="t" l="l"/>
            <a:pathLst>
              <a:path h="3529734" w="5786450">
                <a:moveTo>
                  <a:pt x="0" y="3529735"/>
                </a:moveTo>
                <a:lnTo>
                  <a:pt x="5786450" y="3529735"/>
                </a:lnTo>
                <a:lnTo>
                  <a:pt x="5786450" y="0"/>
                </a:lnTo>
                <a:lnTo>
                  <a:pt x="0" y="0"/>
                </a:lnTo>
                <a:lnTo>
                  <a:pt x="0" y="35297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06323" y="859713"/>
            <a:ext cx="2172024" cy="855235"/>
          </a:xfrm>
          <a:custGeom>
            <a:avLst/>
            <a:gdLst/>
            <a:ahLst/>
            <a:cxnLst/>
            <a:rect r="r" b="b" t="t" l="l"/>
            <a:pathLst>
              <a:path h="855235" w="2172024">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93875" y="3143729"/>
            <a:ext cx="9865222" cy="4926295"/>
          </a:xfrm>
          <a:custGeom>
            <a:avLst/>
            <a:gdLst/>
            <a:ahLst/>
            <a:cxnLst/>
            <a:rect r="r" b="b" t="t" l="l"/>
            <a:pathLst>
              <a:path h="4926295" w="9865222">
                <a:moveTo>
                  <a:pt x="0" y="0"/>
                </a:moveTo>
                <a:lnTo>
                  <a:pt x="9865222" y="0"/>
                </a:lnTo>
                <a:lnTo>
                  <a:pt x="9865222" y="4926295"/>
                </a:lnTo>
                <a:lnTo>
                  <a:pt x="0" y="4926295"/>
                </a:lnTo>
                <a:lnTo>
                  <a:pt x="0" y="0"/>
                </a:lnTo>
                <a:close/>
              </a:path>
            </a:pathLst>
          </a:custGeom>
          <a:blipFill>
            <a:blip r:embed="rId6"/>
            <a:stretch>
              <a:fillRect l="0" t="0" r="0" b="0"/>
            </a:stretch>
          </a:blipFill>
        </p:spPr>
      </p:sp>
      <p:sp>
        <p:nvSpPr>
          <p:cNvPr name="TextBox 5" id="5"/>
          <p:cNvSpPr txBox="true"/>
          <p:nvPr/>
        </p:nvSpPr>
        <p:spPr>
          <a:xfrm rot="0">
            <a:off x="10835795" y="3782743"/>
            <a:ext cx="6841320" cy="1532134"/>
          </a:xfrm>
          <a:prstGeom prst="rect">
            <a:avLst/>
          </a:prstGeom>
        </p:spPr>
        <p:txBody>
          <a:bodyPr anchor="t" rtlCol="false" tIns="0" lIns="0" bIns="0" rIns="0">
            <a:spAutoFit/>
          </a:bodyPr>
          <a:lstStyle/>
          <a:p>
            <a:pPr algn="l" marL="436733" indent="-218367" lvl="1">
              <a:lnSpc>
                <a:spcPts val="2467"/>
              </a:lnSpc>
              <a:buFont typeface="Arial"/>
              <a:buChar char="•"/>
            </a:pPr>
            <a:r>
              <a:rPr lang="en-US" sz="2022">
                <a:solidFill>
                  <a:srgbClr val="FFFFFF"/>
                </a:solidFill>
                <a:latin typeface="Poppins"/>
                <a:ea typeface="Poppins"/>
                <a:cs typeface="Poppins"/>
                <a:sym typeface="Poppins"/>
              </a:rPr>
              <a:t>Segmen dengan risiko gagal bayar tertinggi adalah nasabah dengan pendapatan ‘Maternity leave’ (default rate 40%) dan ‘Unemployed’ (36%), jauh di atas rata‑rata segmen lain yang umumnya di bawah 10%</a:t>
            </a:r>
          </a:p>
        </p:txBody>
      </p:sp>
      <p:sp>
        <p:nvSpPr>
          <p:cNvPr name="TextBox 6" id="6"/>
          <p:cNvSpPr txBox="true"/>
          <p:nvPr/>
        </p:nvSpPr>
        <p:spPr>
          <a:xfrm rot="0">
            <a:off x="11024404" y="3191354"/>
            <a:ext cx="2821425"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Keterangan</a:t>
            </a:r>
          </a:p>
        </p:txBody>
      </p:sp>
      <p:sp>
        <p:nvSpPr>
          <p:cNvPr name="TextBox 7" id="7"/>
          <p:cNvSpPr txBox="true"/>
          <p:nvPr/>
        </p:nvSpPr>
        <p:spPr>
          <a:xfrm rot="0">
            <a:off x="10824528" y="5438702"/>
            <a:ext cx="6841320" cy="1253748"/>
          </a:xfrm>
          <a:prstGeom prst="rect">
            <a:avLst/>
          </a:prstGeom>
        </p:spPr>
        <p:txBody>
          <a:bodyPr anchor="t" rtlCol="false" tIns="0" lIns="0" bIns="0" rIns="0">
            <a:spAutoFit/>
          </a:bodyPr>
          <a:lstStyle/>
          <a:p>
            <a:pPr algn="l" marL="436733" indent="-218366" lvl="1">
              <a:lnSpc>
                <a:spcPts val="2467"/>
              </a:lnSpc>
              <a:spcBef>
                <a:spcPct val="0"/>
              </a:spcBef>
              <a:buFont typeface="Arial"/>
              <a:buChar char="•"/>
            </a:pPr>
            <a:r>
              <a:rPr lang="en-US" sz="2022" strike="noStrike" u="none">
                <a:solidFill>
                  <a:srgbClr val="FFFFFF"/>
                </a:solidFill>
                <a:latin typeface="Poppins"/>
                <a:ea typeface="Poppins"/>
                <a:cs typeface="Poppins"/>
                <a:sym typeface="Poppins"/>
              </a:rPr>
              <a:t>Nasabah dengan pendapatan stabil seperti ‘Working’, ‘Commercial associate’, ‘State servant’, dan ‘Pensioner’ punya default rate jauh lebih rendah (sekitar 5–10%).</a:t>
            </a:r>
          </a:p>
        </p:txBody>
      </p:sp>
      <p:sp>
        <p:nvSpPr>
          <p:cNvPr name="TextBox 8" id="8"/>
          <p:cNvSpPr txBox="true"/>
          <p:nvPr/>
        </p:nvSpPr>
        <p:spPr>
          <a:xfrm rot="0">
            <a:off x="10824528" y="6816275"/>
            <a:ext cx="6841320" cy="1253748"/>
          </a:xfrm>
          <a:prstGeom prst="rect">
            <a:avLst/>
          </a:prstGeom>
        </p:spPr>
        <p:txBody>
          <a:bodyPr anchor="t" rtlCol="false" tIns="0" lIns="0" bIns="0" rIns="0">
            <a:spAutoFit/>
          </a:bodyPr>
          <a:lstStyle/>
          <a:p>
            <a:pPr algn="l" marL="436733" indent="-218366" lvl="1">
              <a:lnSpc>
                <a:spcPts val="2467"/>
              </a:lnSpc>
              <a:spcBef>
                <a:spcPct val="0"/>
              </a:spcBef>
              <a:buFont typeface="Arial"/>
              <a:buChar char="•"/>
            </a:pPr>
            <a:r>
              <a:rPr lang="en-US" sz="2022" strike="noStrike" u="none">
                <a:solidFill>
                  <a:srgbClr val="FFFFFF"/>
                </a:solidFill>
                <a:latin typeface="Poppins"/>
                <a:ea typeface="Poppins"/>
                <a:cs typeface="Poppins"/>
                <a:sym typeface="Poppins"/>
              </a:rPr>
              <a:t>Kategori ‘Businessman’ dan ‘Student’ pada data training tidak menunjukkan kasus gagal bayar, kemungkinan karena jumlah sampelnya sangat sedikit sehingga perlu dianalisis hati‑hati.</a:t>
            </a:r>
          </a:p>
        </p:txBody>
      </p:sp>
      <p:sp>
        <p:nvSpPr>
          <p:cNvPr name="TextBox 9" id="9"/>
          <p:cNvSpPr txBox="true"/>
          <p:nvPr/>
        </p:nvSpPr>
        <p:spPr>
          <a:xfrm rot="0">
            <a:off x="793875" y="934304"/>
            <a:ext cx="13107851" cy="2028250"/>
          </a:xfrm>
          <a:prstGeom prst="rect">
            <a:avLst/>
          </a:prstGeom>
        </p:spPr>
        <p:txBody>
          <a:bodyPr anchor="t" rtlCol="false" tIns="0" lIns="0" bIns="0" rIns="0">
            <a:spAutoFit/>
          </a:bodyPr>
          <a:lstStyle/>
          <a:p>
            <a:pPr algn="l">
              <a:lnSpc>
                <a:spcPts val="7852"/>
              </a:lnSpc>
            </a:pPr>
            <a:r>
              <a:rPr lang="en-US" sz="7852" b="true">
                <a:solidFill>
                  <a:srgbClr val="FFFFFF"/>
                </a:solidFill>
                <a:latin typeface="Garet Bold"/>
                <a:ea typeface="Garet Bold"/>
                <a:cs typeface="Garet Bold"/>
                <a:sym typeface="Garet Bold"/>
              </a:rPr>
              <a:t>INSIGHT 1 : DEFAULT RATE PER INCOME TYPE</a:t>
            </a:r>
          </a:p>
        </p:txBody>
      </p:sp>
      <p:sp>
        <p:nvSpPr>
          <p:cNvPr name="TextBox 10" id="10"/>
          <p:cNvSpPr txBox="true"/>
          <p:nvPr/>
        </p:nvSpPr>
        <p:spPr>
          <a:xfrm rot="0">
            <a:off x="793875" y="8765336"/>
            <a:ext cx="16633314" cy="1253748"/>
          </a:xfrm>
          <a:prstGeom prst="rect">
            <a:avLst/>
          </a:prstGeom>
        </p:spPr>
        <p:txBody>
          <a:bodyPr anchor="t" rtlCol="false" tIns="0" lIns="0" bIns="0" rIns="0">
            <a:spAutoFit/>
          </a:bodyPr>
          <a:lstStyle/>
          <a:p>
            <a:pPr algn="l" marL="436733" indent="-218366" lvl="1">
              <a:lnSpc>
                <a:spcPts val="2467"/>
              </a:lnSpc>
              <a:spcBef>
                <a:spcPct val="0"/>
              </a:spcBef>
              <a:buFont typeface="Arial"/>
              <a:buChar char="•"/>
            </a:pPr>
            <a:r>
              <a:rPr lang="en-US" sz="2022">
                <a:solidFill>
                  <a:srgbClr val="FFFFFF"/>
                </a:solidFill>
                <a:latin typeface="Poppins"/>
                <a:ea typeface="Poppins"/>
                <a:cs typeface="Poppins"/>
                <a:sym typeface="Poppins"/>
              </a:rPr>
              <a:t>P</a:t>
            </a:r>
            <a:r>
              <a:rPr lang="en-US" sz="2022" strike="noStrike" u="none">
                <a:solidFill>
                  <a:srgbClr val="FFFFFF"/>
                </a:solidFill>
                <a:latin typeface="Poppins"/>
                <a:ea typeface="Poppins"/>
                <a:cs typeface="Poppins"/>
                <a:sym typeface="Poppins"/>
              </a:rPr>
              <a:t>er</a:t>
            </a:r>
            <a:r>
              <a:rPr lang="en-US" sz="2022" strike="noStrike" u="none">
                <a:solidFill>
                  <a:srgbClr val="FFFFFF"/>
                </a:solidFill>
                <a:latin typeface="Poppins"/>
                <a:ea typeface="Poppins"/>
                <a:cs typeface="Poppins"/>
                <a:sym typeface="Poppins"/>
              </a:rPr>
              <a:t>k</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t</a:t>
            </a:r>
            <a:r>
              <a:rPr lang="en-US" sz="2022" strike="noStrike" u="none">
                <a:solidFill>
                  <a:srgbClr val="FFFFFF"/>
                </a:solidFill>
                <a:latin typeface="Poppins"/>
                <a:ea typeface="Poppins"/>
                <a:cs typeface="Poppins"/>
                <a:sym typeface="Poppins"/>
              </a:rPr>
              <a:t>at p</a:t>
            </a:r>
            <a:r>
              <a:rPr lang="en-US" sz="2022" strike="noStrike" u="none">
                <a:solidFill>
                  <a:srgbClr val="FFFFFF"/>
                </a:solidFill>
                <a:latin typeface="Poppins"/>
                <a:ea typeface="Poppins"/>
                <a:cs typeface="Poppins"/>
                <a:sym typeface="Poppins"/>
              </a:rPr>
              <a:t>olicy</a:t>
            </a:r>
            <a:r>
              <a:rPr lang="en-US" sz="2022" strike="noStrike" u="none">
                <a:solidFill>
                  <a:srgbClr val="FFFFFF"/>
                </a:solidFill>
                <a:latin typeface="Poppins"/>
                <a:ea typeface="Poppins"/>
                <a:cs typeface="Poppins"/>
                <a:sym typeface="Poppins"/>
              </a:rPr>
              <a:t> </a:t>
            </a:r>
            <a:r>
              <a:rPr lang="en-US" sz="2022" strike="noStrike" u="none">
                <a:solidFill>
                  <a:srgbClr val="FFFFFF"/>
                </a:solidFill>
                <a:latin typeface="Poppins"/>
                <a:ea typeface="Poppins"/>
                <a:cs typeface="Poppins"/>
                <a:sym typeface="Poppins"/>
              </a:rPr>
              <a:t>k</a:t>
            </a:r>
            <a:r>
              <a:rPr lang="en-US" sz="2022" strike="noStrike" u="none">
                <a:solidFill>
                  <a:srgbClr val="FFFFFF"/>
                </a:solidFill>
                <a:latin typeface="Poppins"/>
                <a:ea typeface="Poppins"/>
                <a:cs typeface="Poppins"/>
                <a:sym typeface="Poppins"/>
              </a:rPr>
              <a:t>r</a:t>
            </a:r>
            <a:r>
              <a:rPr lang="en-US" sz="2022" strike="noStrike" u="none">
                <a:solidFill>
                  <a:srgbClr val="FFFFFF"/>
                </a:solidFill>
                <a:latin typeface="Poppins"/>
                <a:ea typeface="Poppins"/>
                <a:cs typeface="Poppins"/>
                <a:sym typeface="Poppins"/>
              </a:rPr>
              <a:t>ed</a:t>
            </a:r>
            <a:r>
              <a:rPr lang="en-US" sz="2022" strike="noStrike" u="none">
                <a:solidFill>
                  <a:srgbClr val="FFFFFF"/>
                </a:solidFill>
                <a:latin typeface="Poppins"/>
                <a:ea typeface="Poppins"/>
                <a:cs typeface="Poppins"/>
                <a:sym typeface="Poppins"/>
              </a:rPr>
              <a:t>it un</a:t>
            </a:r>
            <a:r>
              <a:rPr lang="en-US" sz="2022" strike="noStrike" u="none">
                <a:solidFill>
                  <a:srgbClr val="FFFFFF"/>
                </a:solidFill>
                <a:latin typeface="Poppins"/>
                <a:ea typeface="Poppins"/>
                <a:cs typeface="Poppins"/>
                <a:sym typeface="Poppins"/>
              </a:rPr>
              <a:t>t</a:t>
            </a:r>
            <a:r>
              <a:rPr lang="en-US" sz="2022" strike="noStrike" u="none">
                <a:solidFill>
                  <a:srgbClr val="FFFFFF"/>
                </a:solidFill>
                <a:latin typeface="Poppins"/>
                <a:ea typeface="Poppins"/>
                <a:cs typeface="Poppins"/>
                <a:sym typeface="Poppins"/>
              </a:rPr>
              <a:t>uk s</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gm</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n </a:t>
            </a:r>
            <a:r>
              <a:rPr lang="en-US" sz="2022" strike="noStrike" u="none">
                <a:solidFill>
                  <a:srgbClr val="FFFFFF"/>
                </a:solidFill>
                <a:latin typeface="Poppins"/>
                <a:ea typeface="Poppins"/>
                <a:cs typeface="Poppins"/>
                <a:sym typeface="Poppins"/>
              </a:rPr>
              <a:t>M</a:t>
            </a:r>
            <a:r>
              <a:rPr lang="en-US" sz="2022" strike="noStrike" u="none">
                <a:solidFill>
                  <a:srgbClr val="FFFFFF"/>
                </a:solidFill>
                <a:latin typeface="Poppins"/>
                <a:ea typeface="Poppins"/>
                <a:cs typeface="Poppins"/>
                <a:sym typeface="Poppins"/>
              </a:rPr>
              <a:t>a</a:t>
            </a:r>
            <a:r>
              <a:rPr lang="en-US" sz="2022" strike="noStrike" u="none">
                <a:solidFill>
                  <a:srgbClr val="FFFFFF"/>
                </a:solidFill>
                <a:latin typeface="Poppins"/>
                <a:ea typeface="Poppins"/>
                <a:cs typeface="Poppins"/>
                <a:sym typeface="Poppins"/>
              </a:rPr>
              <a:t>t</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r</a:t>
            </a:r>
            <a:r>
              <a:rPr lang="en-US" sz="2022" strike="noStrike" u="none">
                <a:solidFill>
                  <a:srgbClr val="FFFFFF"/>
                </a:solidFill>
                <a:latin typeface="Poppins"/>
                <a:ea typeface="Poppins"/>
                <a:cs typeface="Poppins"/>
                <a:sym typeface="Poppins"/>
              </a:rPr>
              <a:t>n</a:t>
            </a:r>
            <a:r>
              <a:rPr lang="en-US" sz="2022" strike="noStrike" u="none">
                <a:solidFill>
                  <a:srgbClr val="FFFFFF"/>
                </a:solidFill>
                <a:latin typeface="Poppins"/>
                <a:ea typeface="Poppins"/>
                <a:cs typeface="Poppins"/>
                <a:sym typeface="Poppins"/>
              </a:rPr>
              <a:t>ity</a:t>
            </a:r>
            <a:r>
              <a:rPr lang="en-US" sz="2022" strike="noStrike" u="none">
                <a:solidFill>
                  <a:srgbClr val="FFFFFF"/>
                </a:solidFill>
                <a:latin typeface="Poppins"/>
                <a:ea typeface="Poppins"/>
                <a:cs typeface="Poppins"/>
                <a:sym typeface="Poppins"/>
              </a:rPr>
              <a:t> l</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a</a:t>
            </a:r>
            <a:r>
              <a:rPr lang="en-US" sz="2022" strike="noStrike" u="none">
                <a:solidFill>
                  <a:srgbClr val="FFFFFF"/>
                </a:solidFill>
                <a:latin typeface="Poppins"/>
                <a:ea typeface="Poppins"/>
                <a:cs typeface="Poppins"/>
                <a:sym typeface="Poppins"/>
              </a:rPr>
              <a:t>ve</a:t>
            </a:r>
            <a:r>
              <a:rPr lang="en-US" sz="2022" strike="noStrike" u="none">
                <a:solidFill>
                  <a:srgbClr val="FFFFFF"/>
                </a:solidFill>
                <a:latin typeface="Poppins"/>
                <a:ea typeface="Poppins"/>
                <a:cs typeface="Poppins"/>
                <a:sym typeface="Poppins"/>
              </a:rPr>
              <a:t> </a:t>
            </a:r>
            <a:r>
              <a:rPr lang="en-US" sz="2022" strike="noStrike" u="none">
                <a:solidFill>
                  <a:srgbClr val="FFFFFF"/>
                </a:solidFill>
                <a:latin typeface="Poppins"/>
                <a:ea typeface="Poppins"/>
                <a:cs typeface="Poppins"/>
                <a:sym typeface="Poppins"/>
              </a:rPr>
              <a:t>&amp; Une</a:t>
            </a:r>
            <a:r>
              <a:rPr lang="en-US" sz="2022" strike="noStrike" u="none">
                <a:solidFill>
                  <a:srgbClr val="FFFFFF"/>
                </a:solidFill>
                <a:latin typeface="Poppins"/>
                <a:ea typeface="Poppins"/>
                <a:cs typeface="Poppins"/>
                <a:sym typeface="Poppins"/>
              </a:rPr>
              <a:t>mpl</a:t>
            </a:r>
            <a:r>
              <a:rPr lang="en-US" sz="2022" strike="noStrike" u="none">
                <a:solidFill>
                  <a:srgbClr val="FFFFFF"/>
                </a:solidFill>
                <a:latin typeface="Poppins"/>
                <a:ea typeface="Poppins"/>
                <a:cs typeface="Poppins"/>
                <a:sym typeface="Poppins"/>
              </a:rPr>
              <a:t>o</a:t>
            </a:r>
            <a:r>
              <a:rPr lang="en-US" sz="2022" strike="noStrike" u="none">
                <a:solidFill>
                  <a:srgbClr val="FFFFFF"/>
                </a:solidFill>
                <a:latin typeface="Poppins"/>
                <a:ea typeface="Poppins"/>
                <a:cs typeface="Poppins"/>
                <a:sym typeface="Poppins"/>
              </a:rPr>
              <a:t>yed</a:t>
            </a:r>
            <a:r>
              <a:rPr lang="en-US" sz="2022" strike="noStrike" u="none">
                <a:solidFill>
                  <a:srgbClr val="FFFFFF"/>
                </a:solidFill>
                <a:latin typeface="Poppins"/>
                <a:ea typeface="Poppins"/>
                <a:cs typeface="Poppins"/>
                <a:sym typeface="Poppins"/>
              </a:rPr>
              <a:t> (l</a:t>
            </a:r>
            <a:r>
              <a:rPr lang="en-US" sz="2022" strike="noStrike" u="none">
                <a:solidFill>
                  <a:srgbClr val="FFFFFF"/>
                </a:solidFill>
                <a:latin typeface="Poppins"/>
                <a:ea typeface="Poppins"/>
                <a:cs typeface="Poppins"/>
                <a:sym typeface="Poppins"/>
              </a:rPr>
              <a:t>i</a:t>
            </a:r>
            <a:r>
              <a:rPr lang="en-US" sz="2022" strike="noStrike" u="none">
                <a:solidFill>
                  <a:srgbClr val="FFFFFF"/>
                </a:solidFill>
                <a:latin typeface="Poppins"/>
                <a:ea typeface="Poppins"/>
                <a:cs typeface="Poppins"/>
                <a:sym typeface="Poppins"/>
              </a:rPr>
              <a:t>m</a:t>
            </a:r>
            <a:r>
              <a:rPr lang="en-US" sz="2022" strike="noStrike" u="none">
                <a:solidFill>
                  <a:srgbClr val="FFFFFF"/>
                </a:solidFill>
                <a:latin typeface="Poppins"/>
                <a:ea typeface="Poppins"/>
                <a:cs typeface="Poppins"/>
                <a:sym typeface="Poppins"/>
              </a:rPr>
              <a:t>it </a:t>
            </a:r>
            <a:r>
              <a:rPr lang="en-US" sz="2022" strike="noStrike" u="none">
                <a:solidFill>
                  <a:srgbClr val="FFFFFF"/>
                </a:solidFill>
                <a:latin typeface="Poppins"/>
                <a:ea typeface="Poppins"/>
                <a:cs typeface="Poppins"/>
                <a:sym typeface="Poppins"/>
              </a:rPr>
              <a:t>l</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b</a:t>
            </a:r>
            <a:r>
              <a:rPr lang="en-US" sz="2022" strike="noStrike" u="none">
                <a:solidFill>
                  <a:srgbClr val="FFFFFF"/>
                </a:solidFill>
                <a:latin typeface="Poppins"/>
                <a:ea typeface="Poppins"/>
                <a:cs typeface="Poppins"/>
                <a:sym typeface="Poppins"/>
              </a:rPr>
              <a:t>i</a:t>
            </a:r>
            <a:r>
              <a:rPr lang="en-US" sz="2022" strike="noStrike" u="none">
                <a:solidFill>
                  <a:srgbClr val="FFFFFF"/>
                </a:solidFill>
                <a:latin typeface="Poppins"/>
                <a:ea typeface="Poppins"/>
                <a:cs typeface="Poppins"/>
                <a:sym typeface="Poppins"/>
              </a:rPr>
              <a:t>h</a:t>
            </a:r>
            <a:r>
              <a:rPr lang="en-US" sz="2022" strike="noStrike" u="none">
                <a:solidFill>
                  <a:srgbClr val="FFFFFF"/>
                </a:solidFill>
                <a:latin typeface="Poppins"/>
                <a:ea typeface="Poppins"/>
                <a:cs typeface="Poppins"/>
                <a:sym typeface="Poppins"/>
              </a:rPr>
              <a:t> </a:t>
            </a:r>
            <a:r>
              <a:rPr lang="en-US" sz="2022" strike="noStrike" u="none">
                <a:solidFill>
                  <a:srgbClr val="FFFFFF"/>
                </a:solidFill>
                <a:latin typeface="Poppins"/>
                <a:ea typeface="Poppins"/>
                <a:cs typeface="Poppins"/>
                <a:sym typeface="Poppins"/>
              </a:rPr>
              <a:t>k</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ci</a:t>
            </a:r>
            <a:r>
              <a:rPr lang="en-US" sz="2022" strike="noStrike" u="none">
                <a:solidFill>
                  <a:srgbClr val="FFFFFF"/>
                </a:solidFill>
                <a:latin typeface="Poppins"/>
                <a:ea typeface="Poppins"/>
                <a:cs typeface="Poppins"/>
                <a:sym typeface="Poppins"/>
              </a:rPr>
              <a:t>l</a:t>
            </a:r>
            <a:r>
              <a:rPr lang="en-US" sz="2022" strike="noStrike" u="none">
                <a:solidFill>
                  <a:srgbClr val="FFFFFF"/>
                </a:solidFill>
                <a:latin typeface="Poppins"/>
                <a:ea typeface="Poppins"/>
                <a:cs typeface="Poppins"/>
                <a:sym typeface="Poppins"/>
              </a:rPr>
              <a:t>, but</a:t>
            </a:r>
            <a:r>
              <a:rPr lang="en-US" sz="2022" strike="noStrike" u="none">
                <a:solidFill>
                  <a:srgbClr val="FFFFFF"/>
                </a:solidFill>
                <a:latin typeface="Poppins"/>
                <a:ea typeface="Poppins"/>
                <a:cs typeface="Poppins"/>
                <a:sym typeface="Poppins"/>
              </a:rPr>
              <a:t>u</a:t>
            </a:r>
            <a:r>
              <a:rPr lang="en-US" sz="2022" strike="noStrike" u="none">
                <a:solidFill>
                  <a:srgbClr val="FFFFFF"/>
                </a:solidFill>
                <a:latin typeface="Poppins"/>
                <a:ea typeface="Poppins"/>
                <a:cs typeface="Poppins"/>
                <a:sym typeface="Poppins"/>
              </a:rPr>
              <a:t>h</a:t>
            </a:r>
            <a:r>
              <a:rPr lang="en-US" sz="2022" strike="noStrike" u="none">
                <a:solidFill>
                  <a:srgbClr val="FFFFFF"/>
                </a:solidFill>
                <a:latin typeface="Poppins"/>
                <a:ea typeface="Poppins"/>
                <a:cs typeface="Poppins"/>
                <a:sym typeface="Poppins"/>
              </a:rPr>
              <a:t> </a:t>
            </a:r>
            <a:r>
              <a:rPr lang="en-US" sz="2022" strike="noStrike" u="none">
                <a:solidFill>
                  <a:srgbClr val="FFFFFF"/>
                </a:solidFill>
                <a:latin typeface="Poppins"/>
                <a:ea typeface="Poppins"/>
                <a:cs typeface="Poppins"/>
                <a:sym typeface="Poppins"/>
              </a:rPr>
              <a:t>jam</a:t>
            </a:r>
            <a:r>
              <a:rPr lang="en-US" sz="2022" strike="noStrike" u="none">
                <a:solidFill>
                  <a:srgbClr val="FFFFFF"/>
                </a:solidFill>
                <a:latin typeface="Poppins"/>
                <a:ea typeface="Poppins"/>
                <a:cs typeface="Poppins"/>
                <a:sym typeface="Poppins"/>
              </a:rPr>
              <a:t>i</a:t>
            </a:r>
            <a:r>
              <a:rPr lang="en-US" sz="2022" strike="noStrike" u="none">
                <a:solidFill>
                  <a:srgbClr val="FFFFFF"/>
                </a:solidFill>
                <a:latin typeface="Poppins"/>
                <a:ea typeface="Poppins"/>
                <a:cs typeface="Poppins"/>
                <a:sym typeface="Poppins"/>
              </a:rPr>
              <a:t>n</a:t>
            </a:r>
            <a:r>
              <a:rPr lang="en-US" sz="2022" strike="noStrike" u="none">
                <a:solidFill>
                  <a:srgbClr val="FFFFFF"/>
                </a:solidFill>
                <a:latin typeface="Poppins"/>
                <a:ea typeface="Poppins"/>
                <a:cs typeface="Poppins"/>
                <a:sym typeface="Poppins"/>
              </a:rPr>
              <a:t>an</a:t>
            </a:r>
            <a:r>
              <a:rPr lang="en-US" sz="2022" strike="noStrike" u="none">
                <a:solidFill>
                  <a:srgbClr val="FFFFFF"/>
                </a:solidFill>
                <a:latin typeface="Poppins"/>
                <a:ea typeface="Poppins"/>
                <a:cs typeface="Poppins"/>
                <a:sym typeface="Poppins"/>
              </a:rPr>
              <a:t>, </a:t>
            </a:r>
            <a:r>
              <a:rPr lang="en-US" sz="2022" strike="noStrike" u="none">
                <a:solidFill>
                  <a:srgbClr val="FFFFFF"/>
                </a:solidFill>
                <a:latin typeface="Poppins"/>
                <a:ea typeface="Poppins"/>
                <a:cs typeface="Poppins"/>
                <a:sym typeface="Poppins"/>
              </a:rPr>
              <a:t>a</a:t>
            </a:r>
            <a:r>
              <a:rPr lang="en-US" sz="2022" strike="noStrike" u="none">
                <a:solidFill>
                  <a:srgbClr val="FFFFFF"/>
                </a:solidFill>
                <a:latin typeface="Poppins"/>
                <a:ea typeface="Poppins"/>
                <a:cs typeface="Poppins"/>
                <a:sym typeface="Poppins"/>
              </a:rPr>
              <a:t>tau pro</a:t>
            </a:r>
            <a:r>
              <a:rPr lang="en-US" sz="2022" strike="noStrike" u="none">
                <a:solidFill>
                  <a:srgbClr val="FFFFFF"/>
                </a:solidFill>
                <a:latin typeface="Poppins"/>
                <a:ea typeface="Poppins"/>
                <a:cs typeface="Poppins"/>
                <a:sym typeface="Poppins"/>
              </a:rPr>
              <a:t>s</a:t>
            </a:r>
            <a:r>
              <a:rPr lang="en-US" sz="2022" strike="noStrike" u="none">
                <a:solidFill>
                  <a:srgbClr val="FFFFFF"/>
                </a:solidFill>
                <a:latin typeface="Poppins"/>
                <a:ea typeface="Poppins"/>
                <a:cs typeface="Poppins"/>
                <a:sym typeface="Poppins"/>
              </a:rPr>
              <a:t>e</a:t>
            </a:r>
            <a:r>
              <a:rPr lang="en-US" sz="2022" strike="noStrike" u="none">
                <a:solidFill>
                  <a:srgbClr val="FFFFFF"/>
                </a:solidFill>
                <a:latin typeface="Poppins"/>
                <a:ea typeface="Poppins"/>
                <a:cs typeface="Poppins"/>
                <a:sym typeface="Poppins"/>
              </a:rPr>
              <a:t>s </a:t>
            </a:r>
            <a:r>
              <a:rPr lang="en-US" sz="2022" strike="noStrike" u="none">
                <a:solidFill>
                  <a:srgbClr val="FFFFFF"/>
                </a:solidFill>
                <a:latin typeface="Poppins"/>
                <a:ea typeface="Poppins"/>
                <a:cs typeface="Poppins"/>
                <a:sym typeface="Poppins"/>
              </a:rPr>
              <a:t>rev</a:t>
            </a:r>
            <a:r>
              <a:rPr lang="en-US" sz="2022" strike="noStrike" u="none">
                <a:solidFill>
                  <a:srgbClr val="FFFFFF"/>
                </a:solidFill>
                <a:latin typeface="Poppins"/>
                <a:ea typeface="Poppins"/>
                <a:cs typeface="Poppins"/>
                <a:sym typeface="Poppins"/>
              </a:rPr>
              <a:t>i</a:t>
            </a:r>
            <a:r>
              <a:rPr lang="en-US" sz="2022" strike="noStrike" u="none">
                <a:solidFill>
                  <a:srgbClr val="FFFFFF"/>
                </a:solidFill>
                <a:latin typeface="Poppins"/>
                <a:ea typeface="Poppins"/>
                <a:cs typeface="Poppins"/>
                <a:sym typeface="Poppins"/>
              </a:rPr>
              <a:t>ew lebi</a:t>
            </a:r>
            <a:r>
              <a:rPr lang="en-US" sz="2022" strike="noStrike" u="none">
                <a:solidFill>
                  <a:srgbClr val="FFFFFF"/>
                </a:solidFill>
                <a:latin typeface="Poppins"/>
                <a:ea typeface="Poppins"/>
                <a:cs typeface="Poppins"/>
                <a:sym typeface="Poppins"/>
              </a:rPr>
              <a:t>h</a:t>
            </a:r>
            <a:r>
              <a:rPr lang="en-US" sz="2022" strike="noStrike" u="none">
                <a:solidFill>
                  <a:srgbClr val="FFFFFF"/>
                </a:solidFill>
                <a:latin typeface="Poppins"/>
                <a:ea typeface="Poppins"/>
                <a:cs typeface="Poppins"/>
                <a:sym typeface="Poppins"/>
              </a:rPr>
              <a:t> ket</a:t>
            </a:r>
            <a:r>
              <a:rPr lang="en-US" sz="2022" strike="noStrike" u="none">
                <a:solidFill>
                  <a:srgbClr val="FFFFFF"/>
                </a:solidFill>
                <a:latin typeface="Poppins"/>
                <a:ea typeface="Poppins"/>
                <a:cs typeface="Poppins"/>
                <a:sym typeface="Poppins"/>
              </a:rPr>
              <a:t>at</a:t>
            </a:r>
            <a:r>
              <a:rPr lang="en-US" sz="2022" strike="noStrike" u="none">
                <a:solidFill>
                  <a:srgbClr val="FFFFFF"/>
                </a:solidFill>
                <a:latin typeface="Poppins"/>
                <a:ea typeface="Poppins"/>
                <a:cs typeface="Poppins"/>
                <a:sym typeface="Poppins"/>
              </a:rPr>
              <a:t>)</a:t>
            </a:r>
            <a:r>
              <a:rPr lang="en-US" sz="2022" strike="noStrike" u="none">
                <a:solidFill>
                  <a:srgbClr val="FFFFFF"/>
                </a:solidFill>
                <a:latin typeface="Poppins"/>
                <a:ea typeface="Poppins"/>
                <a:cs typeface="Poppins"/>
                <a:sym typeface="Poppins"/>
              </a:rPr>
              <a:t>.</a:t>
            </a:r>
          </a:p>
          <a:p>
            <a:pPr algn="l" marL="436733" indent="-218366" lvl="1">
              <a:lnSpc>
                <a:spcPts val="2467"/>
              </a:lnSpc>
              <a:spcBef>
                <a:spcPct val="0"/>
              </a:spcBef>
              <a:buFont typeface="Arial"/>
              <a:buChar char="•"/>
            </a:pPr>
            <a:r>
              <a:rPr lang="en-US" sz="2022" strike="noStrike" u="none">
                <a:solidFill>
                  <a:srgbClr val="FFFFFF"/>
                </a:solidFill>
                <a:latin typeface="Poppins"/>
                <a:ea typeface="Poppins"/>
                <a:cs typeface="Poppins"/>
                <a:sym typeface="Poppins"/>
              </a:rPr>
              <a:t>Fokus kampanye akuisisi ke segmen berpenghasilan stabil seperti Working, Commercial associate, State servant, dan Pensioner untuk menjaga kualitas portofolio.</a:t>
            </a:r>
          </a:p>
        </p:txBody>
      </p:sp>
      <p:sp>
        <p:nvSpPr>
          <p:cNvPr name="TextBox 11" id="11"/>
          <p:cNvSpPr txBox="true"/>
          <p:nvPr/>
        </p:nvSpPr>
        <p:spPr>
          <a:xfrm rot="0">
            <a:off x="793875" y="8260524"/>
            <a:ext cx="5278717"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Action yang disarankan: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false" flipV="true" rot="0">
            <a:off x="0" y="-567181"/>
            <a:ext cx="5786450" cy="3529734"/>
          </a:xfrm>
          <a:custGeom>
            <a:avLst/>
            <a:gdLst/>
            <a:ahLst/>
            <a:cxnLst/>
            <a:rect r="r" b="b" t="t" l="l"/>
            <a:pathLst>
              <a:path h="3529734" w="5786450">
                <a:moveTo>
                  <a:pt x="0" y="3529735"/>
                </a:moveTo>
                <a:lnTo>
                  <a:pt x="5786450" y="3529735"/>
                </a:lnTo>
                <a:lnTo>
                  <a:pt x="5786450" y="0"/>
                </a:lnTo>
                <a:lnTo>
                  <a:pt x="0" y="0"/>
                </a:lnTo>
                <a:lnTo>
                  <a:pt x="0" y="35297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06323" y="859713"/>
            <a:ext cx="2172024" cy="855235"/>
          </a:xfrm>
          <a:custGeom>
            <a:avLst/>
            <a:gdLst/>
            <a:ahLst/>
            <a:cxnLst/>
            <a:rect r="r" b="b" t="t" l="l"/>
            <a:pathLst>
              <a:path h="855235" w="2172024">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93875" y="2984701"/>
            <a:ext cx="7482565" cy="4946102"/>
          </a:xfrm>
          <a:custGeom>
            <a:avLst/>
            <a:gdLst/>
            <a:ahLst/>
            <a:cxnLst/>
            <a:rect r="r" b="b" t="t" l="l"/>
            <a:pathLst>
              <a:path h="4946102" w="7482565">
                <a:moveTo>
                  <a:pt x="0" y="0"/>
                </a:moveTo>
                <a:lnTo>
                  <a:pt x="7482565" y="0"/>
                </a:lnTo>
                <a:lnTo>
                  <a:pt x="7482565" y="4946102"/>
                </a:lnTo>
                <a:lnTo>
                  <a:pt x="0" y="4946102"/>
                </a:lnTo>
                <a:lnTo>
                  <a:pt x="0" y="0"/>
                </a:lnTo>
                <a:close/>
              </a:path>
            </a:pathLst>
          </a:custGeom>
          <a:blipFill>
            <a:blip r:embed="rId6"/>
            <a:stretch>
              <a:fillRect l="0" t="0" r="0" b="0"/>
            </a:stretch>
          </a:blipFill>
        </p:spPr>
      </p:sp>
      <p:sp>
        <p:nvSpPr>
          <p:cNvPr name="TextBox 5" id="5"/>
          <p:cNvSpPr txBox="true"/>
          <p:nvPr/>
        </p:nvSpPr>
        <p:spPr>
          <a:xfrm rot="0">
            <a:off x="8668788" y="3966541"/>
            <a:ext cx="7331053" cy="1975353"/>
          </a:xfrm>
          <a:prstGeom prst="rect">
            <a:avLst/>
          </a:prstGeom>
        </p:spPr>
        <p:txBody>
          <a:bodyPr anchor="t" rtlCol="false" tIns="0" lIns="0" bIns="0" rIns="0">
            <a:spAutoFit/>
          </a:bodyPr>
          <a:lstStyle/>
          <a:p>
            <a:pPr algn="l" marL="467997" indent="-233998" lvl="1">
              <a:lnSpc>
                <a:spcPts val="2644"/>
              </a:lnSpc>
              <a:buFont typeface="Arial"/>
              <a:buChar char="•"/>
            </a:pPr>
            <a:r>
              <a:rPr lang="en-US" sz="2167">
                <a:solidFill>
                  <a:srgbClr val="FFFFFF"/>
                </a:solidFill>
                <a:latin typeface="Poppins"/>
                <a:ea typeface="Poppins"/>
                <a:cs typeface="Poppins"/>
                <a:sym typeface="Poppins"/>
              </a:rPr>
              <a:t>Nasabah yang tidak bermasalah bayar (TARGET=0) cenderung memiliki nilai EXT_SOURCE_2 lebih tinggi (median sekitar 0,55–0,60), sedangkan nasabah bermasalah (TARGET=1) punya skor lebih rendah (median sekitar 0,40–0,45).</a:t>
            </a:r>
          </a:p>
        </p:txBody>
      </p:sp>
      <p:sp>
        <p:nvSpPr>
          <p:cNvPr name="TextBox 6" id="6"/>
          <p:cNvSpPr txBox="true"/>
          <p:nvPr/>
        </p:nvSpPr>
        <p:spPr>
          <a:xfrm rot="0">
            <a:off x="8668788" y="3423629"/>
            <a:ext cx="2821425"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Keterangan</a:t>
            </a:r>
          </a:p>
        </p:txBody>
      </p:sp>
      <p:sp>
        <p:nvSpPr>
          <p:cNvPr name="TextBox 7" id="7"/>
          <p:cNvSpPr txBox="true"/>
          <p:nvPr/>
        </p:nvSpPr>
        <p:spPr>
          <a:xfrm rot="0">
            <a:off x="8668788" y="6103819"/>
            <a:ext cx="7331053" cy="1019511"/>
          </a:xfrm>
          <a:prstGeom prst="rect">
            <a:avLst/>
          </a:prstGeom>
        </p:spPr>
        <p:txBody>
          <a:bodyPr anchor="t" rtlCol="false" tIns="0" lIns="0" bIns="0" rIns="0">
            <a:spAutoFit/>
          </a:bodyPr>
          <a:lstStyle/>
          <a:p>
            <a:pPr algn="l" marL="467996" indent="-233998" lvl="1">
              <a:lnSpc>
                <a:spcPts val="2644"/>
              </a:lnSpc>
              <a:spcBef>
                <a:spcPct val="0"/>
              </a:spcBef>
              <a:buFont typeface="Arial"/>
              <a:buChar char="•"/>
            </a:pPr>
            <a:r>
              <a:rPr lang="en-US" sz="2167">
                <a:solidFill>
                  <a:srgbClr val="FFFFFF"/>
                </a:solidFill>
                <a:latin typeface="Poppins"/>
                <a:ea typeface="Poppins"/>
                <a:cs typeface="Poppins"/>
                <a:sym typeface="Poppins"/>
              </a:rPr>
              <a:t>Se</a:t>
            </a:r>
            <a:r>
              <a:rPr lang="en-US" sz="2167" strike="noStrike" u="none">
                <a:solidFill>
                  <a:srgbClr val="FFFFFF"/>
                </a:solidFill>
                <a:latin typeface="Poppins"/>
                <a:ea typeface="Poppins"/>
                <a:cs typeface="Poppins"/>
                <a:sym typeface="Poppins"/>
              </a:rPr>
              <a:t>ba</a:t>
            </a:r>
            <a:r>
              <a:rPr lang="en-US" sz="2167" strike="noStrike" u="none">
                <a:solidFill>
                  <a:srgbClr val="FFFFFF"/>
                </a:solidFill>
                <a:latin typeface="Poppins"/>
                <a:ea typeface="Poppins"/>
                <a:cs typeface="Poppins"/>
                <a:sym typeface="Poppins"/>
              </a:rPr>
              <a:t>r</a:t>
            </a:r>
            <a:r>
              <a:rPr lang="en-US" sz="2167" strike="noStrike" u="none">
                <a:solidFill>
                  <a:srgbClr val="FFFFFF"/>
                </a:solidFill>
                <a:latin typeface="Poppins"/>
                <a:ea typeface="Poppins"/>
                <a:cs typeface="Poppins"/>
                <a:sym typeface="Poppins"/>
              </a:rPr>
              <a:t>an </a:t>
            </a:r>
            <a:r>
              <a:rPr lang="en-US" sz="2167" strike="noStrike" u="none">
                <a:solidFill>
                  <a:srgbClr val="FFFFFF"/>
                </a:solidFill>
                <a:latin typeface="Poppins"/>
                <a:ea typeface="Poppins"/>
                <a:cs typeface="Poppins"/>
                <a:sym typeface="Poppins"/>
              </a:rPr>
              <a:t>skor </a:t>
            </a:r>
            <a:r>
              <a:rPr lang="en-US" sz="2167" strike="noStrike" u="none">
                <a:solidFill>
                  <a:srgbClr val="FFFFFF"/>
                </a:solidFill>
                <a:latin typeface="Poppins"/>
                <a:ea typeface="Poppins"/>
                <a:cs typeface="Poppins"/>
                <a:sym typeface="Poppins"/>
              </a:rPr>
              <a:t>e</a:t>
            </a:r>
            <a:r>
              <a:rPr lang="en-US" sz="2167" strike="noStrike" u="none">
                <a:solidFill>
                  <a:srgbClr val="FFFFFF"/>
                </a:solidFill>
                <a:latin typeface="Poppins"/>
                <a:ea typeface="Poppins"/>
                <a:cs typeface="Poppins"/>
                <a:sym typeface="Poppins"/>
              </a:rPr>
              <a:t>ks</a:t>
            </a:r>
            <a:r>
              <a:rPr lang="en-US" sz="2167" strike="noStrike" u="none">
                <a:solidFill>
                  <a:srgbClr val="FFFFFF"/>
                </a:solidFill>
                <a:latin typeface="Poppins"/>
                <a:ea typeface="Poppins"/>
                <a:cs typeface="Poppins"/>
                <a:sym typeface="Poppins"/>
              </a:rPr>
              <a:t>t</a:t>
            </a:r>
            <a:r>
              <a:rPr lang="en-US" sz="2167" strike="noStrike" u="none">
                <a:solidFill>
                  <a:srgbClr val="FFFFFF"/>
                </a:solidFill>
                <a:latin typeface="Poppins"/>
                <a:ea typeface="Poppins"/>
                <a:cs typeface="Poppins"/>
                <a:sym typeface="Poppins"/>
              </a:rPr>
              <a:t>ern</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l u</a:t>
            </a:r>
            <a:r>
              <a:rPr lang="en-US" sz="2167" strike="noStrike" u="none">
                <a:solidFill>
                  <a:srgbClr val="FFFFFF"/>
                </a:solidFill>
                <a:latin typeface="Poppins"/>
                <a:ea typeface="Poppins"/>
                <a:cs typeface="Poppins"/>
                <a:sym typeface="Poppins"/>
              </a:rPr>
              <a:t>n</a:t>
            </a:r>
            <a:r>
              <a:rPr lang="en-US" sz="2167" strike="noStrike" u="none">
                <a:solidFill>
                  <a:srgbClr val="FFFFFF"/>
                </a:solidFill>
                <a:latin typeface="Poppins"/>
                <a:ea typeface="Poppins"/>
                <a:cs typeface="Poppins"/>
                <a:sym typeface="Poppins"/>
              </a:rPr>
              <a:t>tuk</a:t>
            </a:r>
            <a:r>
              <a:rPr lang="en-US" sz="2167" strike="noStrike" u="none">
                <a:solidFill>
                  <a:srgbClr val="FFFFFF"/>
                </a:solidFill>
                <a:latin typeface="Poppins"/>
                <a:ea typeface="Poppins"/>
                <a:cs typeface="Poppins"/>
                <a:sym typeface="Poppins"/>
              </a:rPr>
              <a:t> </a:t>
            </a:r>
            <a:r>
              <a:rPr lang="en-US" sz="2167" strike="noStrike" u="none">
                <a:solidFill>
                  <a:srgbClr val="FFFFFF"/>
                </a:solidFill>
                <a:latin typeface="Poppins"/>
                <a:ea typeface="Poppins"/>
                <a:cs typeface="Poppins"/>
                <a:sym typeface="Poppins"/>
              </a:rPr>
              <a:t>TARGET=1 jug</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 </a:t>
            </a:r>
            <a:r>
              <a:rPr lang="en-US" sz="2167" strike="noStrike" u="none">
                <a:solidFill>
                  <a:srgbClr val="FFFFFF"/>
                </a:solidFill>
                <a:latin typeface="Poppins"/>
                <a:ea typeface="Poppins"/>
                <a:cs typeface="Poppins"/>
                <a:sym typeface="Poppins"/>
              </a:rPr>
              <a:t>le</a:t>
            </a:r>
            <a:r>
              <a:rPr lang="en-US" sz="2167" strike="noStrike" u="none">
                <a:solidFill>
                  <a:srgbClr val="FFFFFF"/>
                </a:solidFill>
                <a:latin typeface="Poppins"/>
                <a:ea typeface="Poppins"/>
                <a:cs typeface="Poppins"/>
                <a:sym typeface="Poppins"/>
              </a:rPr>
              <a:t>b</a:t>
            </a:r>
            <a:r>
              <a:rPr lang="en-US" sz="2167" strike="noStrike" u="none">
                <a:solidFill>
                  <a:srgbClr val="FFFFFF"/>
                </a:solidFill>
                <a:latin typeface="Poppins"/>
                <a:ea typeface="Poppins"/>
                <a:cs typeface="Poppins"/>
                <a:sym typeface="Poppins"/>
              </a:rPr>
              <a:t>i</a:t>
            </a:r>
            <a:r>
              <a:rPr lang="en-US" sz="2167" strike="noStrike" u="none">
                <a:solidFill>
                  <a:srgbClr val="FFFFFF"/>
                </a:solidFill>
                <a:latin typeface="Poppins"/>
                <a:ea typeface="Poppins"/>
                <a:cs typeface="Poppins"/>
                <a:sym typeface="Poppins"/>
              </a:rPr>
              <a:t>h</a:t>
            </a:r>
            <a:r>
              <a:rPr lang="en-US" sz="2167" strike="noStrike" u="none">
                <a:solidFill>
                  <a:srgbClr val="FFFFFF"/>
                </a:solidFill>
                <a:latin typeface="Poppins"/>
                <a:ea typeface="Poppins"/>
                <a:cs typeface="Poppins"/>
                <a:sym typeface="Poppins"/>
              </a:rPr>
              <a:t> ‘</a:t>
            </a:r>
            <a:r>
              <a:rPr lang="en-US" sz="2167" strike="noStrike" u="none">
                <a:solidFill>
                  <a:srgbClr val="FFFFFF"/>
                </a:solidFill>
                <a:latin typeface="Poppins"/>
                <a:ea typeface="Poppins"/>
                <a:cs typeface="Poppins"/>
                <a:sym typeface="Poppins"/>
              </a:rPr>
              <a:t>tu</a:t>
            </a:r>
            <a:r>
              <a:rPr lang="en-US" sz="2167" strike="noStrike" u="none">
                <a:solidFill>
                  <a:srgbClr val="FFFFFF"/>
                </a:solidFill>
                <a:latin typeface="Poppins"/>
                <a:ea typeface="Poppins"/>
                <a:cs typeface="Poppins"/>
                <a:sym typeface="Poppins"/>
              </a:rPr>
              <a:t>r</a:t>
            </a:r>
            <a:r>
              <a:rPr lang="en-US" sz="2167" strike="noStrike" u="none">
                <a:solidFill>
                  <a:srgbClr val="FFFFFF"/>
                </a:solidFill>
                <a:latin typeface="Poppins"/>
                <a:ea typeface="Poppins"/>
                <a:cs typeface="Poppins"/>
                <a:sym typeface="Poppins"/>
              </a:rPr>
              <a:t>u</a:t>
            </a:r>
            <a:r>
              <a:rPr lang="en-US" sz="2167" strike="noStrike" u="none">
                <a:solidFill>
                  <a:srgbClr val="FFFFFF"/>
                </a:solidFill>
                <a:latin typeface="Poppins"/>
                <a:ea typeface="Poppins"/>
                <a:cs typeface="Poppins"/>
                <a:sym typeface="Poppins"/>
              </a:rPr>
              <a:t>n </a:t>
            </a:r>
            <a:r>
              <a:rPr lang="en-US" sz="2167" strike="noStrike" u="none">
                <a:solidFill>
                  <a:srgbClr val="FFFFFF"/>
                </a:solidFill>
                <a:latin typeface="Poppins"/>
                <a:ea typeface="Poppins"/>
                <a:cs typeface="Poppins"/>
                <a:sym typeface="Poppins"/>
              </a:rPr>
              <a:t>k</a:t>
            </a:r>
            <a:r>
              <a:rPr lang="en-US" sz="2167" strike="noStrike" u="none">
                <a:solidFill>
                  <a:srgbClr val="FFFFFF"/>
                </a:solidFill>
                <a:latin typeface="Poppins"/>
                <a:ea typeface="Poppins"/>
                <a:cs typeface="Poppins"/>
                <a:sym typeface="Poppins"/>
              </a:rPr>
              <a:t>e </a:t>
            </a:r>
            <a:r>
              <a:rPr lang="en-US" sz="2167" strike="noStrike" u="none">
                <a:solidFill>
                  <a:srgbClr val="FFFFFF"/>
                </a:solidFill>
                <a:latin typeface="Poppins"/>
                <a:ea typeface="Poppins"/>
                <a:cs typeface="Poppins"/>
                <a:sym typeface="Poppins"/>
              </a:rPr>
              <a:t>b</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w</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h</a:t>
            </a:r>
            <a:r>
              <a:rPr lang="en-US" sz="2167" strike="noStrike" u="none">
                <a:solidFill>
                  <a:srgbClr val="FFFFFF"/>
                </a:solidFill>
                <a:latin typeface="Poppins"/>
                <a:ea typeface="Poppins"/>
                <a:cs typeface="Poppins"/>
                <a:sym typeface="Poppins"/>
              </a:rPr>
              <a:t>’, art</a:t>
            </a:r>
            <a:r>
              <a:rPr lang="en-US" sz="2167" strike="noStrike" u="none">
                <a:solidFill>
                  <a:srgbClr val="FFFFFF"/>
                </a:solidFill>
                <a:latin typeface="Poppins"/>
                <a:ea typeface="Poppins"/>
                <a:cs typeface="Poppins"/>
                <a:sym typeface="Poppins"/>
              </a:rPr>
              <a:t>inya</a:t>
            </a:r>
            <a:r>
              <a:rPr lang="en-US" sz="2167" strike="noStrike" u="none">
                <a:solidFill>
                  <a:srgbClr val="FFFFFF"/>
                </a:solidFill>
                <a:latin typeface="Poppins"/>
                <a:ea typeface="Poppins"/>
                <a:cs typeface="Poppins"/>
                <a:sym typeface="Poppins"/>
              </a:rPr>
              <a:t> </a:t>
            </a:r>
            <a:r>
              <a:rPr lang="en-US" sz="2167" strike="noStrike" u="none">
                <a:solidFill>
                  <a:srgbClr val="FFFFFF"/>
                </a:solidFill>
                <a:latin typeface="Poppins"/>
                <a:ea typeface="Poppins"/>
                <a:cs typeface="Poppins"/>
                <a:sym typeface="Poppins"/>
              </a:rPr>
              <a:t>b</a:t>
            </a:r>
            <a:r>
              <a:rPr lang="en-US" sz="2167" strike="noStrike" u="none">
                <a:solidFill>
                  <a:srgbClr val="FFFFFF"/>
                </a:solidFill>
                <a:latin typeface="Poppins"/>
                <a:ea typeface="Poppins"/>
                <a:cs typeface="Poppins"/>
                <a:sym typeface="Poppins"/>
              </a:rPr>
              <a:t>an</a:t>
            </a:r>
            <a:r>
              <a:rPr lang="en-US" sz="2167" strike="noStrike" u="none">
                <a:solidFill>
                  <a:srgbClr val="FFFFFF"/>
                </a:solidFill>
                <a:latin typeface="Poppins"/>
                <a:ea typeface="Poppins"/>
                <a:cs typeface="Poppins"/>
                <a:sym typeface="Poppins"/>
              </a:rPr>
              <a:t>yak</a:t>
            </a:r>
            <a:r>
              <a:rPr lang="en-US" sz="2167" strike="noStrike" u="none">
                <a:solidFill>
                  <a:srgbClr val="FFFFFF"/>
                </a:solidFill>
                <a:latin typeface="Poppins"/>
                <a:ea typeface="Poppins"/>
                <a:cs typeface="Poppins"/>
                <a:sym typeface="Poppins"/>
              </a:rPr>
              <a:t> n</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s</a:t>
            </a:r>
            <a:r>
              <a:rPr lang="en-US" sz="2167" strike="noStrike" u="none">
                <a:solidFill>
                  <a:srgbClr val="FFFFFF"/>
                </a:solidFill>
                <a:latin typeface="Poppins"/>
                <a:ea typeface="Poppins"/>
                <a:cs typeface="Poppins"/>
                <a:sym typeface="Poppins"/>
              </a:rPr>
              <a:t>ab</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h</a:t>
            </a:r>
            <a:r>
              <a:rPr lang="en-US" sz="2167" strike="noStrike" u="none">
                <a:solidFill>
                  <a:srgbClr val="FFFFFF"/>
                </a:solidFill>
                <a:latin typeface="Poppins"/>
                <a:ea typeface="Poppins"/>
                <a:cs typeface="Poppins"/>
                <a:sym typeface="Poppins"/>
              </a:rPr>
              <a:t> default </a:t>
            </a:r>
            <a:r>
              <a:rPr lang="en-US" sz="2167" strike="noStrike" u="none">
                <a:solidFill>
                  <a:srgbClr val="FFFFFF"/>
                </a:solidFill>
                <a:latin typeface="Poppins"/>
                <a:ea typeface="Poppins"/>
                <a:cs typeface="Poppins"/>
                <a:sym typeface="Poppins"/>
              </a:rPr>
              <a:t>be</a:t>
            </a:r>
            <a:r>
              <a:rPr lang="en-US" sz="2167" strike="noStrike" u="none">
                <a:solidFill>
                  <a:srgbClr val="FFFFFF"/>
                </a:solidFill>
                <a:latin typeface="Poppins"/>
                <a:ea typeface="Poppins"/>
                <a:cs typeface="Poppins"/>
                <a:sym typeface="Poppins"/>
              </a:rPr>
              <a:t>ra</a:t>
            </a:r>
            <a:r>
              <a:rPr lang="en-US" sz="2167" strike="noStrike" u="none">
                <a:solidFill>
                  <a:srgbClr val="FFFFFF"/>
                </a:solidFill>
                <a:latin typeface="Poppins"/>
                <a:ea typeface="Poppins"/>
                <a:cs typeface="Poppins"/>
                <a:sym typeface="Poppins"/>
              </a:rPr>
              <a:t>d</a:t>
            </a:r>
            <a:r>
              <a:rPr lang="en-US" sz="2167" strike="noStrike" u="none">
                <a:solidFill>
                  <a:srgbClr val="FFFFFF"/>
                </a:solidFill>
                <a:latin typeface="Poppins"/>
                <a:ea typeface="Poppins"/>
                <a:cs typeface="Poppins"/>
                <a:sym typeface="Poppins"/>
              </a:rPr>
              <a:t>a </a:t>
            </a:r>
            <a:r>
              <a:rPr lang="en-US" sz="2167" strike="noStrike" u="none">
                <a:solidFill>
                  <a:srgbClr val="FFFFFF"/>
                </a:solidFill>
                <a:latin typeface="Poppins"/>
                <a:ea typeface="Poppins"/>
                <a:cs typeface="Poppins"/>
                <a:sym typeface="Poppins"/>
              </a:rPr>
              <a:t>d</a:t>
            </a:r>
            <a:r>
              <a:rPr lang="en-US" sz="2167" strike="noStrike" u="none">
                <a:solidFill>
                  <a:srgbClr val="FFFFFF"/>
                </a:solidFill>
                <a:latin typeface="Poppins"/>
                <a:ea typeface="Poppins"/>
                <a:cs typeface="Poppins"/>
                <a:sym typeface="Poppins"/>
              </a:rPr>
              <a:t>i ren</a:t>
            </a:r>
            <a:r>
              <a:rPr lang="en-US" sz="2167" strike="noStrike" u="none">
                <a:solidFill>
                  <a:srgbClr val="FFFFFF"/>
                </a:solidFill>
                <a:latin typeface="Poppins"/>
                <a:ea typeface="Poppins"/>
                <a:cs typeface="Poppins"/>
                <a:sym typeface="Poppins"/>
              </a:rPr>
              <a:t>t</a:t>
            </a:r>
            <a:r>
              <a:rPr lang="en-US" sz="2167" strike="noStrike" u="none">
                <a:solidFill>
                  <a:srgbClr val="FFFFFF"/>
                </a:solidFill>
                <a:latin typeface="Poppins"/>
                <a:ea typeface="Poppins"/>
                <a:cs typeface="Poppins"/>
                <a:sym typeface="Poppins"/>
              </a:rPr>
              <a:t>a</a:t>
            </a:r>
            <a:r>
              <a:rPr lang="en-US" sz="2167" strike="noStrike" u="none">
                <a:solidFill>
                  <a:srgbClr val="FFFFFF"/>
                </a:solidFill>
                <a:latin typeface="Poppins"/>
                <a:ea typeface="Poppins"/>
                <a:cs typeface="Poppins"/>
                <a:sym typeface="Poppins"/>
              </a:rPr>
              <a:t>ng</a:t>
            </a:r>
            <a:r>
              <a:rPr lang="en-US" sz="2167" strike="noStrike" u="none">
                <a:solidFill>
                  <a:srgbClr val="FFFFFF"/>
                </a:solidFill>
                <a:latin typeface="Poppins"/>
                <a:ea typeface="Poppins"/>
                <a:cs typeface="Poppins"/>
                <a:sym typeface="Poppins"/>
              </a:rPr>
              <a:t> sk</a:t>
            </a:r>
            <a:r>
              <a:rPr lang="en-US" sz="2167" strike="noStrike" u="none">
                <a:solidFill>
                  <a:srgbClr val="FFFFFF"/>
                </a:solidFill>
                <a:latin typeface="Poppins"/>
                <a:ea typeface="Poppins"/>
                <a:cs typeface="Poppins"/>
                <a:sym typeface="Poppins"/>
              </a:rPr>
              <a:t>o</a:t>
            </a:r>
            <a:r>
              <a:rPr lang="en-US" sz="2167" strike="noStrike" u="none">
                <a:solidFill>
                  <a:srgbClr val="FFFFFF"/>
                </a:solidFill>
                <a:latin typeface="Poppins"/>
                <a:ea typeface="Poppins"/>
                <a:cs typeface="Poppins"/>
                <a:sym typeface="Poppins"/>
              </a:rPr>
              <a:t>r </a:t>
            </a:r>
            <a:r>
              <a:rPr lang="en-US" sz="2167" strike="noStrike" u="none">
                <a:solidFill>
                  <a:srgbClr val="FFFFFF"/>
                </a:solidFill>
                <a:latin typeface="Poppins"/>
                <a:ea typeface="Poppins"/>
                <a:cs typeface="Poppins"/>
                <a:sym typeface="Poppins"/>
              </a:rPr>
              <a:t>rendah</a:t>
            </a:r>
            <a:r>
              <a:rPr lang="en-US" sz="2167" strike="noStrike" u="none">
                <a:solidFill>
                  <a:srgbClr val="FFFFFF"/>
                </a:solidFill>
                <a:latin typeface="Poppins"/>
                <a:ea typeface="Poppins"/>
                <a:cs typeface="Poppins"/>
                <a:sym typeface="Poppins"/>
              </a:rPr>
              <a:t>.</a:t>
            </a:r>
          </a:p>
        </p:txBody>
      </p:sp>
      <p:sp>
        <p:nvSpPr>
          <p:cNvPr name="TextBox 8" id="8"/>
          <p:cNvSpPr txBox="true"/>
          <p:nvPr/>
        </p:nvSpPr>
        <p:spPr>
          <a:xfrm rot="0">
            <a:off x="793875" y="934304"/>
            <a:ext cx="13107851" cy="2028250"/>
          </a:xfrm>
          <a:prstGeom prst="rect">
            <a:avLst/>
          </a:prstGeom>
        </p:spPr>
        <p:txBody>
          <a:bodyPr anchor="t" rtlCol="false" tIns="0" lIns="0" bIns="0" rIns="0">
            <a:spAutoFit/>
          </a:bodyPr>
          <a:lstStyle/>
          <a:p>
            <a:pPr algn="l">
              <a:lnSpc>
                <a:spcPts val="7852"/>
              </a:lnSpc>
            </a:pPr>
            <a:r>
              <a:rPr lang="en-US" sz="7852" b="true">
                <a:solidFill>
                  <a:srgbClr val="FFFFFF"/>
                </a:solidFill>
                <a:latin typeface="Garet Bold"/>
                <a:ea typeface="Garet Bold"/>
                <a:cs typeface="Garet Bold"/>
                <a:sym typeface="Garet Bold"/>
              </a:rPr>
              <a:t>INSIGHT 2 : SKOR EKSTERNAL &amp; RISIKO</a:t>
            </a:r>
          </a:p>
        </p:txBody>
      </p:sp>
      <p:sp>
        <p:nvSpPr>
          <p:cNvPr name="TextBox 9" id="9"/>
          <p:cNvSpPr txBox="true"/>
          <p:nvPr/>
        </p:nvSpPr>
        <p:spPr>
          <a:xfrm rot="0">
            <a:off x="793875" y="8755811"/>
            <a:ext cx="16633314" cy="1028342"/>
          </a:xfrm>
          <a:prstGeom prst="rect">
            <a:avLst/>
          </a:prstGeom>
        </p:spPr>
        <p:txBody>
          <a:bodyPr anchor="t" rtlCol="false" tIns="0" lIns="0" bIns="0" rIns="0">
            <a:spAutoFit/>
          </a:bodyPr>
          <a:lstStyle/>
          <a:p>
            <a:pPr algn="l" marL="467995" indent="-233998" lvl="1">
              <a:lnSpc>
                <a:spcPts val="2644"/>
              </a:lnSpc>
              <a:spcBef>
                <a:spcPct val="0"/>
              </a:spcBef>
              <a:buFont typeface="Arial"/>
              <a:buChar char="•"/>
            </a:pPr>
            <a:r>
              <a:rPr lang="en-US" sz="2167" strike="noStrike" u="none">
                <a:solidFill>
                  <a:srgbClr val="FFFFFF"/>
                </a:solidFill>
                <a:latin typeface="Poppins"/>
                <a:ea typeface="Poppins"/>
                <a:cs typeface="Poppins"/>
                <a:sym typeface="Poppins"/>
              </a:rPr>
              <a:t>Gunakan EXT_SOURCE_2 sebagai salah satu fitur utama dalam credit scoring: skor rendah → kategori risiko tinggi.</a:t>
            </a:r>
          </a:p>
          <a:p>
            <a:pPr algn="l" marL="467995" indent="-233998" lvl="1">
              <a:lnSpc>
                <a:spcPts val="2644"/>
              </a:lnSpc>
              <a:spcBef>
                <a:spcPct val="0"/>
              </a:spcBef>
              <a:buFont typeface="Arial"/>
              <a:buChar char="•"/>
            </a:pPr>
            <a:r>
              <a:rPr lang="en-US" sz="2167" strike="noStrike" u="none">
                <a:solidFill>
                  <a:srgbClr val="FFFFFF"/>
                </a:solidFill>
                <a:latin typeface="Poppins"/>
                <a:ea typeface="Poppins"/>
                <a:cs typeface="Poppins"/>
                <a:sym typeface="Poppins"/>
              </a:rPr>
              <a:t>Tetapkan ambang batas skor eksternal: di bawah threshold tertentu, aplikasi perlu manual review atau syarat tambahan (jaminan, down payment lebih besar).</a:t>
            </a:r>
          </a:p>
        </p:txBody>
      </p:sp>
      <p:sp>
        <p:nvSpPr>
          <p:cNvPr name="TextBox 10" id="10"/>
          <p:cNvSpPr txBox="true"/>
          <p:nvPr/>
        </p:nvSpPr>
        <p:spPr>
          <a:xfrm rot="0">
            <a:off x="793875" y="8260524"/>
            <a:ext cx="5278717"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Action yang disarankan: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true" flipV="true" rot="0">
            <a:off x="12029907" y="-664134"/>
            <a:ext cx="6258093" cy="3817437"/>
          </a:xfrm>
          <a:custGeom>
            <a:avLst/>
            <a:gdLst/>
            <a:ahLst/>
            <a:cxnLst/>
            <a:rect r="r" b="b" t="t" l="l"/>
            <a:pathLst>
              <a:path h="3817437" w="6258093">
                <a:moveTo>
                  <a:pt x="6258093" y="3817437"/>
                </a:moveTo>
                <a:lnTo>
                  <a:pt x="0" y="3817437"/>
                </a:lnTo>
                <a:lnTo>
                  <a:pt x="0" y="0"/>
                </a:lnTo>
                <a:lnTo>
                  <a:pt x="6258093" y="0"/>
                </a:lnTo>
                <a:lnTo>
                  <a:pt x="6258093" y="381743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668565"/>
            <a:ext cx="2304400" cy="907357"/>
          </a:xfrm>
          <a:custGeom>
            <a:avLst/>
            <a:gdLst/>
            <a:ahLst/>
            <a:cxnLst/>
            <a:rect r="r" b="b" t="t" l="l"/>
            <a:pathLst>
              <a:path h="907357" w="2304400">
                <a:moveTo>
                  <a:pt x="0" y="0"/>
                </a:moveTo>
                <a:lnTo>
                  <a:pt x="2304400" y="0"/>
                </a:lnTo>
                <a:lnTo>
                  <a:pt x="2304400" y="907357"/>
                </a:lnTo>
                <a:lnTo>
                  <a:pt x="0" y="9073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2607722" y="8147861"/>
            <a:ext cx="5102464" cy="510246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6" id="6"/>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grpSp>
        <p:nvGrpSpPr>
          <p:cNvPr name="Group 7" id="7"/>
          <p:cNvGrpSpPr/>
          <p:nvPr/>
        </p:nvGrpSpPr>
        <p:grpSpPr>
          <a:xfrm rot="0">
            <a:off x="10433537" y="6586108"/>
            <a:ext cx="6111191" cy="2896253"/>
            <a:chOff x="0" y="0"/>
            <a:chExt cx="2367845" cy="1122184"/>
          </a:xfrm>
        </p:grpSpPr>
        <p:sp>
          <p:nvSpPr>
            <p:cNvPr name="Freeform 8" id="8"/>
            <p:cNvSpPr/>
            <p:nvPr/>
          </p:nvSpPr>
          <p:spPr>
            <a:xfrm flipH="false" flipV="false" rot="0">
              <a:off x="0" y="0"/>
              <a:ext cx="2367845" cy="1122184"/>
            </a:xfrm>
            <a:custGeom>
              <a:avLst/>
              <a:gdLst/>
              <a:ahLst/>
              <a:cxnLst/>
              <a:rect r="r" b="b" t="t" l="l"/>
              <a:pathLst>
                <a:path h="1122184" w="2367845">
                  <a:moveTo>
                    <a:pt x="25337" y="0"/>
                  </a:moveTo>
                  <a:lnTo>
                    <a:pt x="2342508" y="0"/>
                  </a:lnTo>
                  <a:cubicBezTo>
                    <a:pt x="2349228" y="0"/>
                    <a:pt x="2355672" y="2669"/>
                    <a:pt x="2360424" y="7421"/>
                  </a:cubicBezTo>
                  <a:cubicBezTo>
                    <a:pt x="2365176" y="12173"/>
                    <a:pt x="2367845" y="18617"/>
                    <a:pt x="2367845" y="25337"/>
                  </a:cubicBezTo>
                  <a:lnTo>
                    <a:pt x="2367845" y="1096847"/>
                  </a:lnTo>
                  <a:cubicBezTo>
                    <a:pt x="2367845" y="1103567"/>
                    <a:pt x="2365176" y="1110011"/>
                    <a:pt x="2360424" y="1114763"/>
                  </a:cubicBezTo>
                  <a:cubicBezTo>
                    <a:pt x="2355672" y="1119514"/>
                    <a:pt x="2349228" y="1122184"/>
                    <a:pt x="2342508" y="1122184"/>
                  </a:cubicBezTo>
                  <a:lnTo>
                    <a:pt x="25337" y="1122184"/>
                  </a:lnTo>
                  <a:cubicBezTo>
                    <a:pt x="11344" y="1122184"/>
                    <a:pt x="0" y="1110840"/>
                    <a:pt x="0" y="1096847"/>
                  </a:cubicBezTo>
                  <a:lnTo>
                    <a:pt x="0" y="25337"/>
                  </a:lnTo>
                  <a:cubicBezTo>
                    <a:pt x="0" y="18617"/>
                    <a:pt x="2669" y="12173"/>
                    <a:pt x="7421" y="7421"/>
                  </a:cubicBezTo>
                  <a:cubicBezTo>
                    <a:pt x="12173" y="2669"/>
                    <a:pt x="18617" y="0"/>
                    <a:pt x="25337" y="0"/>
                  </a:cubicBezTo>
                  <a:close/>
                </a:path>
              </a:pathLst>
            </a:custGeom>
            <a:blipFill>
              <a:blip r:embed="rId6"/>
              <a:stretch>
                <a:fillRect l="-2808" t="0" r="-2808" b="0"/>
              </a:stretch>
            </a:blipFill>
            <a:ln cap="sq">
              <a:noFill/>
              <a:prstDash val="solid"/>
              <a:miter/>
            </a:ln>
          </p:spPr>
        </p:sp>
      </p:grpSp>
      <p:grpSp>
        <p:nvGrpSpPr>
          <p:cNvPr name="Group 9" id="9"/>
          <p:cNvGrpSpPr/>
          <p:nvPr/>
        </p:nvGrpSpPr>
        <p:grpSpPr>
          <a:xfrm rot="0">
            <a:off x="10433537" y="3620408"/>
            <a:ext cx="6111191" cy="2896253"/>
            <a:chOff x="0" y="0"/>
            <a:chExt cx="2367845" cy="1122184"/>
          </a:xfrm>
        </p:grpSpPr>
        <p:sp>
          <p:nvSpPr>
            <p:cNvPr name="Freeform 10" id="10"/>
            <p:cNvSpPr/>
            <p:nvPr/>
          </p:nvSpPr>
          <p:spPr>
            <a:xfrm flipH="false" flipV="false" rot="0">
              <a:off x="0" y="0"/>
              <a:ext cx="2367845" cy="1122184"/>
            </a:xfrm>
            <a:custGeom>
              <a:avLst/>
              <a:gdLst/>
              <a:ahLst/>
              <a:cxnLst/>
              <a:rect r="r" b="b" t="t" l="l"/>
              <a:pathLst>
                <a:path h="1122184" w="2367845">
                  <a:moveTo>
                    <a:pt x="25337" y="0"/>
                  </a:moveTo>
                  <a:lnTo>
                    <a:pt x="2342508" y="0"/>
                  </a:lnTo>
                  <a:cubicBezTo>
                    <a:pt x="2349228" y="0"/>
                    <a:pt x="2355672" y="2669"/>
                    <a:pt x="2360424" y="7421"/>
                  </a:cubicBezTo>
                  <a:cubicBezTo>
                    <a:pt x="2365176" y="12173"/>
                    <a:pt x="2367845" y="18617"/>
                    <a:pt x="2367845" y="25337"/>
                  </a:cubicBezTo>
                  <a:lnTo>
                    <a:pt x="2367845" y="1096847"/>
                  </a:lnTo>
                  <a:cubicBezTo>
                    <a:pt x="2367845" y="1103567"/>
                    <a:pt x="2365176" y="1110011"/>
                    <a:pt x="2360424" y="1114763"/>
                  </a:cubicBezTo>
                  <a:cubicBezTo>
                    <a:pt x="2355672" y="1119514"/>
                    <a:pt x="2349228" y="1122184"/>
                    <a:pt x="2342508" y="1122184"/>
                  </a:cubicBezTo>
                  <a:lnTo>
                    <a:pt x="25337" y="1122184"/>
                  </a:lnTo>
                  <a:cubicBezTo>
                    <a:pt x="11344" y="1122184"/>
                    <a:pt x="0" y="1110840"/>
                    <a:pt x="0" y="1096847"/>
                  </a:cubicBezTo>
                  <a:lnTo>
                    <a:pt x="0" y="25337"/>
                  </a:lnTo>
                  <a:cubicBezTo>
                    <a:pt x="0" y="18617"/>
                    <a:pt x="2669" y="12173"/>
                    <a:pt x="7421" y="7421"/>
                  </a:cubicBezTo>
                  <a:cubicBezTo>
                    <a:pt x="12173" y="2669"/>
                    <a:pt x="18617" y="0"/>
                    <a:pt x="25337" y="0"/>
                  </a:cubicBezTo>
                  <a:close/>
                </a:path>
              </a:pathLst>
            </a:custGeom>
            <a:blipFill>
              <a:blip r:embed="rId7"/>
              <a:stretch>
                <a:fillRect l="0" t="0" r="-21833" b="0"/>
              </a:stretch>
            </a:blipFill>
          </p:spPr>
        </p:sp>
      </p:grpSp>
      <p:sp>
        <p:nvSpPr>
          <p:cNvPr name="TextBox 11" id="11"/>
          <p:cNvSpPr txBox="true"/>
          <p:nvPr/>
        </p:nvSpPr>
        <p:spPr>
          <a:xfrm rot="0">
            <a:off x="1122296" y="1292654"/>
            <a:ext cx="10480445" cy="2007868"/>
          </a:xfrm>
          <a:prstGeom prst="rect">
            <a:avLst/>
          </a:prstGeom>
        </p:spPr>
        <p:txBody>
          <a:bodyPr anchor="t" rtlCol="false" tIns="0" lIns="0" bIns="0" rIns="0">
            <a:spAutoFit/>
          </a:bodyPr>
          <a:lstStyle/>
          <a:p>
            <a:pPr algn="l">
              <a:lnSpc>
                <a:spcPts val="7799"/>
              </a:lnSpc>
            </a:pPr>
            <a:r>
              <a:rPr lang="en-US" sz="7799" b="true">
                <a:solidFill>
                  <a:srgbClr val="FFFFFF"/>
                </a:solidFill>
                <a:latin typeface="Garet Bold"/>
                <a:ea typeface="Garet Bold"/>
                <a:cs typeface="Garet Bold"/>
                <a:sym typeface="Garet Bold"/>
              </a:rPr>
              <a:t>PENDEKATAN MACHINE LEARNING</a:t>
            </a:r>
          </a:p>
        </p:txBody>
      </p:sp>
      <p:sp>
        <p:nvSpPr>
          <p:cNvPr name="TextBox 12" id="12"/>
          <p:cNvSpPr txBox="true"/>
          <p:nvPr/>
        </p:nvSpPr>
        <p:spPr>
          <a:xfrm rot="0">
            <a:off x="1244397" y="3972806"/>
            <a:ext cx="7469003" cy="767969"/>
          </a:xfrm>
          <a:prstGeom prst="rect">
            <a:avLst/>
          </a:prstGeom>
        </p:spPr>
        <p:txBody>
          <a:bodyPr anchor="t" rtlCol="false" tIns="0" lIns="0" bIns="0" rIns="0">
            <a:spAutoFit/>
          </a:bodyPr>
          <a:lstStyle/>
          <a:p>
            <a:pPr algn="l" marL="496567" indent="-248284" lvl="1">
              <a:lnSpc>
                <a:spcPts val="3012"/>
              </a:lnSpc>
              <a:spcBef>
                <a:spcPct val="0"/>
              </a:spcBef>
              <a:buFont typeface="Arial"/>
              <a:buChar char="•"/>
            </a:pPr>
            <a:r>
              <a:rPr lang="en-US" sz="2299" strike="noStrike" u="none">
                <a:solidFill>
                  <a:srgbClr val="FFFFFF"/>
                </a:solidFill>
                <a:latin typeface="Poppins"/>
                <a:ea typeface="Poppins"/>
                <a:cs typeface="Poppins"/>
                <a:sym typeface="Poppins"/>
              </a:rPr>
              <a:t>Binary classification: memprediksi TARGET (0 = good, 1 = default).</a:t>
            </a:r>
          </a:p>
        </p:txBody>
      </p:sp>
      <p:sp>
        <p:nvSpPr>
          <p:cNvPr name="TextBox 13" id="13"/>
          <p:cNvSpPr txBox="true"/>
          <p:nvPr/>
        </p:nvSpPr>
        <p:spPr>
          <a:xfrm rot="0">
            <a:off x="1244397" y="3547597"/>
            <a:ext cx="5278717"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Tipe masalah:</a:t>
            </a:r>
          </a:p>
        </p:txBody>
      </p:sp>
      <p:sp>
        <p:nvSpPr>
          <p:cNvPr name="TextBox 14" id="14"/>
          <p:cNvSpPr txBox="true"/>
          <p:nvPr/>
        </p:nvSpPr>
        <p:spPr>
          <a:xfrm rot="0">
            <a:off x="1244397" y="5299335"/>
            <a:ext cx="7469003" cy="767969"/>
          </a:xfrm>
          <a:prstGeom prst="rect">
            <a:avLst/>
          </a:prstGeom>
        </p:spPr>
        <p:txBody>
          <a:bodyPr anchor="t" rtlCol="false" tIns="0" lIns="0" bIns="0" rIns="0">
            <a:spAutoFit/>
          </a:bodyPr>
          <a:lstStyle/>
          <a:p>
            <a:pPr algn="l" marL="496567" indent="-248284" lvl="1">
              <a:lnSpc>
                <a:spcPts val="3012"/>
              </a:lnSpc>
              <a:spcBef>
                <a:spcPct val="0"/>
              </a:spcBef>
              <a:buFont typeface="Arial"/>
              <a:buChar char="•"/>
            </a:pPr>
            <a:r>
              <a:rPr lang="en-US" sz="2299" strike="noStrike" u="none">
                <a:solidFill>
                  <a:srgbClr val="FFFFFF"/>
                </a:solidFill>
                <a:latin typeface="Poppins"/>
                <a:ea typeface="Poppins"/>
                <a:cs typeface="Poppins"/>
                <a:sym typeface="Poppins"/>
              </a:rPr>
              <a:t>Train–test split 80:20 dengan stratified sampling agar distribusi TARGET seimbang.</a:t>
            </a:r>
          </a:p>
        </p:txBody>
      </p:sp>
      <p:sp>
        <p:nvSpPr>
          <p:cNvPr name="TextBox 15" id="15"/>
          <p:cNvSpPr txBox="true"/>
          <p:nvPr/>
        </p:nvSpPr>
        <p:spPr>
          <a:xfrm rot="0">
            <a:off x="1244397" y="4874125"/>
            <a:ext cx="5278717"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Data split:</a:t>
            </a:r>
          </a:p>
        </p:txBody>
      </p:sp>
      <p:sp>
        <p:nvSpPr>
          <p:cNvPr name="TextBox 16" id="16"/>
          <p:cNvSpPr txBox="true"/>
          <p:nvPr/>
        </p:nvSpPr>
        <p:spPr>
          <a:xfrm rot="0">
            <a:off x="1244397" y="6625863"/>
            <a:ext cx="7469003" cy="1148969"/>
          </a:xfrm>
          <a:prstGeom prst="rect">
            <a:avLst/>
          </a:prstGeom>
        </p:spPr>
        <p:txBody>
          <a:bodyPr anchor="t" rtlCol="false" tIns="0" lIns="0" bIns="0" rIns="0">
            <a:spAutoFit/>
          </a:bodyPr>
          <a:lstStyle/>
          <a:p>
            <a:pPr algn="l" marL="496567" indent="-248284" lvl="1">
              <a:lnSpc>
                <a:spcPts val="3012"/>
              </a:lnSpc>
              <a:buFont typeface="Arial"/>
              <a:buChar char="•"/>
            </a:pPr>
            <a:r>
              <a:rPr lang="en-US" sz="2299">
                <a:solidFill>
                  <a:srgbClr val="FFFFFF"/>
                </a:solidFill>
                <a:latin typeface="Poppins"/>
                <a:ea typeface="Poppins"/>
                <a:cs typeface="Poppins"/>
                <a:sym typeface="Poppins"/>
              </a:rPr>
              <a:t>Logistic Regression (baseline, interpretable).</a:t>
            </a:r>
          </a:p>
          <a:p>
            <a:pPr algn="l" marL="496567" indent="-248284" lvl="1">
              <a:lnSpc>
                <a:spcPts val="3012"/>
              </a:lnSpc>
              <a:buFont typeface="Arial"/>
              <a:buChar char="•"/>
            </a:pPr>
            <a:r>
              <a:rPr lang="en-US" sz="2299">
                <a:solidFill>
                  <a:srgbClr val="FFFFFF"/>
                </a:solidFill>
                <a:latin typeface="Poppins"/>
                <a:ea typeface="Poppins"/>
                <a:cs typeface="Poppins"/>
                <a:sym typeface="Poppins"/>
              </a:rPr>
              <a:t>Random Forest (model non‑linear dengan performa lebih baik).</a:t>
            </a:r>
          </a:p>
        </p:txBody>
      </p:sp>
      <p:sp>
        <p:nvSpPr>
          <p:cNvPr name="TextBox 17" id="17"/>
          <p:cNvSpPr txBox="true"/>
          <p:nvPr/>
        </p:nvSpPr>
        <p:spPr>
          <a:xfrm rot="0">
            <a:off x="1244397" y="6200654"/>
            <a:ext cx="5278717"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Algoritma yang dicoba:</a:t>
            </a:r>
          </a:p>
        </p:txBody>
      </p:sp>
      <p:sp>
        <p:nvSpPr>
          <p:cNvPr name="TextBox 18" id="18"/>
          <p:cNvSpPr txBox="true"/>
          <p:nvPr/>
        </p:nvSpPr>
        <p:spPr>
          <a:xfrm rot="0">
            <a:off x="1244397" y="8333392"/>
            <a:ext cx="7469003" cy="1148969"/>
          </a:xfrm>
          <a:prstGeom prst="rect">
            <a:avLst/>
          </a:prstGeom>
        </p:spPr>
        <p:txBody>
          <a:bodyPr anchor="t" rtlCol="false" tIns="0" lIns="0" bIns="0" rIns="0">
            <a:spAutoFit/>
          </a:bodyPr>
          <a:lstStyle/>
          <a:p>
            <a:pPr algn="l" marL="496567" indent="-248284" lvl="1">
              <a:lnSpc>
                <a:spcPts val="3012"/>
              </a:lnSpc>
              <a:buFont typeface="Arial"/>
              <a:buChar char="•"/>
            </a:pPr>
            <a:r>
              <a:rPr lang="en-US" sz="2299">
                <a:solidFill>
                  <a:srgbClr val="FFFFFF"/>
                </a:solidFill>
                <a:latin typeface="Poppins"/>
                <a:ea typeface="Poppins"/>
                <a:cs typeface="Poppins"/>
                <a:sym typeface="Poppins"/>
              </a:rPr>
              <a:t>Gunakan class_weight='balanced' pa</a:t>
            </a:r>
            <a:r>
              <a:rPr lang="en-US" sz="2299">
                <a:solidFill>
                  <a:srgbClr val="FFFFFF"/>
                </a:solidFill>
                <a:latin typeface="Poppins"/>
                <a:ea typeface="Poppins"/>
                <a:cs typeface="Poppins"/>
                <a:sym typeface="Poppins"/>
              </a:rPr>
              <a:t>da model untuk memberi bobot lebih besar ke kelas default.</a:t>
            </a:r>
          </a:p>
        </p:txBody>
      </p:sp>
      <p:sp>
        <p:nvSpPr>
          <p:cNvPr name="TextBox 19" id="19"/>
          <p:cNvSpPr txBox="true"/>
          <p:nvPr/>
        </p:nvSpPr>
        <p:spPr>
          <a:xfrm rot="0">
            <a:off x="1244397" y="7908182"/>
            <a:ext cx="6118164" cy="380987"/>
          </a:xfrm>
          <a:prstGeom prst="rect">
            <a:avLst/>
          </a:prstGeom>
        </p:spPr>
        <p:txBody>
          <a:bodyPr anchor="t" rtlCol="false" tIns="0" lIns="0" bIns="0" rIns="0">
            <a:spAutoFit/>
          </a:bodyPr>
          <a:lstStyle/>
          <a:p>
            <a:pPr algn="l" marL="0" indent="0" lvl="0">
              <a:lnSpc>
                <a:spcPts val="2836"/>
              </a:lnSpc>
              <a:spcBef>
                <a:spcPct val="0"/>
              </a:spcBef>
            </a:pPr>
            <a:r>
              <a:rPr lang="en-US" b="true" sz="2836">
                <a:solidFill>
                  <a:srgbClr val="49C3FB"/>
                </a:solidFill>
                <a:latin typeface="Garet Bold"/>
                <a:ea typeface="Garet Bold"/>
                <a:cs typeface="Garet Bold"/>
                <a:sym typeface="Garet Bold"/>
              </a:rPr>
              <a:t>Penanganan class imbalance: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false" flipV="false" rot="0">
            <a:off x="-214617" y="0"/>
            <a:ext cx="18660330" cy="5839494"/>
          </a:xfrm>
          <a:custGeom>
            <a:avLst/>
            <a:gdLst/>
            <a:ahLst/>
            <a:cxnLst/>
            <a:rect r="r" b="b" t="t" l="l"/>
            <a:pathLst>
              <a:path h="5839494" w="18660330">
                <a:moveTo>
                  <a:pt x="0" y="0"/>
                </a:moveTo>
                <a:lnTo>
                  <a:pt x="18660330" y="0"/>
                </a:lnTo>
                <a:lnTo>
                  <a:pt x="18660330" y="5839494"/>
                </a:lnTo>
                <a:lnTo>
                  <a:pt x="0" y="5839494"/>
                </a:lnTo>
                <a:lnTo>
                  <a:pt x="0" y="0"/>
                </a:lnTo>
                <a:close/>
              </a:path>
            </a:pathLst>
          </a:custGeom>
          <a:blipFill>
            <a:blip r:embed="rId2"/>
            <a:stretch>
              <a:fillRect l="0" t="-29011" r="0" b="-50737"/>
            </a:stretch>
          </a:blipFill>
        </p:spPr>
      </p:sp>
      <p:grpSp>
        <p:nvGrpSpPr>
          <p:cNvPr name="Group 3" id="3"/>
          <p:cNvGrpSpPr/>
          <p:nvPr/>
        </p:nvGrpSpPr>
        <p:grpSpPr>
          <a:xfrm rot="0">
            <a:off x="0" y="1028700"/>
            <a:ext cx="18288000" cy="5177098"/>
            <a:chOff x="0" y="0"/>
            <a:chExt cx="4816593" cy="1363516"/>
          </a:xfrm>
        </p:grpSpPr>
        <p:sp>
          <p:nvSpPr>
            <p:cNvPr name="Freeform 4" id="4"/>
            <p:cNvSpPr/>
            <p:nvPr/>
          </p:nvSpPr>
          <p:spPr>
            <a:xfrm flipH="false" flipV="false" rot="0">
              <a:off x="0" y="0"/>
              <a:ext cx="4816592" cy="1363516"/>
            </a:xfrm>
            <a:custGeom>
              <a:avLst/>
              <a:gdLst/>
              <a:ahLst/>
              <a:cxnLst/>
              <a:rect r="r" b="b" t="t" l="l"/>
              <a:pathLst>
                <a:path h="1363516" w="4816592">
                  <a:moveTo>
                    <a:pt x="0" y="0"/>
                  </a:moveTo>
                  <a:lnTo>
                    <a:pt x="4816592" y="0"/>
                  </a:lnTo>
                  <a:lnTo>
                    <a:pt x="4816592" y="1363516"/>
                  </a:lnTo>
                  <a:lnTo>
                    <a:pt x="0" y="1363516"/>
                  </a:lnTo>
                  <a:close/>
                </a:path>
              </a:pathLst>
            </a:custGeom>
            <a:gradFill rotWithShape="true">
              <a:gsLst>
                <a:gs pos="0">
                  <a:srgbClr val="031B3A">
                    <a:alpha val="0"/>
                  </a:srgbClr>
                </a:gs>
                <a:gs pos="100000">
                  <a:srgbClr val="031B3A">
                    <a:alpha val="100000"/>
                  </a:srgbClr>
                </a:gs>
              </a:gsLst>
              <a:lin ang="5400000"/>
            </a:gradFill>
          </p:spPr>
        </p:sp>
        <p:sp>
          <p:nvSpPr>
            <p:cNvPr name="TextBox 5" id="5"/>
            <p:cNvSpPr txBox="true"/>
            <p:nvPr/>
          </p:nvSpPr>
          <p:spPr>
            <a:xfrm>
              <a:off x="0" y="28575"/>
              <a:ext cx="4816593" cy="1334941"/>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false" flipV="false" rot="0">
            <a:off x="1028700" y="9059885"/>
            <a:ext cx="1645678" cy="647986"/>
          </a:xfrm>
          <a:custGeom>
            <a:avLst/>
            <a:gdLst/>
            <a:ahLst/>
            <a:cxnLst/>
            <a:rect r="r" b="b" t="t" l="l"/>
            <a:pathLst>
              <a:path h="647986" w="1645678">
                <a:moveTo>
                  <a:pt x="0" y="0"/>
                </a:moveTo>
                <a:lnTo>
                  <a:pt x="1645678" y="0"/>
                </a:lnTo>
                <a:lnTo>
                  <a:pt x="1645678" y="647986"/>
                </a:lnTo>
                <a:lnTo>
                  <a:pt x="0" y="6479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1196913" y="3089533"/>
            <a:ext cx="6358861" cy="6395696"/>
            <a:chOff x="0" y="0"/>
            <a:chExt cx="1115721" cy="1122184"/>
          </a:xfrm>
        </p:grpSpPr>
        <p:sp>
          <p:nvSpPr>
            <p:cNvPr name="Freeform 8" id="8"/>
            <p:cNvSpPr/>
            <p:nvPr/>
          </p:nvSpPr>
          <p:spPr>
            <a:xfrm flipH="false" flipV="false" rot="0">
              <a:off x="0" y="0"/>
              <a:ext cx="1115721" cy="1122184"/>
            </a:xfrm>
            <a:custGeom>
              <a:avLst/>
              <a:gdLst/>
              <a:ahLst/>
              <a:cxnLst/>
              <a:rect r="r" b="b" t="t" l="l"/>
              <a:pathLst>
                <a:path h="1122184" w="1115721">
                  <a:moveTo>
                    <a:pt x="24350" y="0"/>
                  </a:moveTo>
                  <a:lnTo>
                    <a:pt x="1091370" y="0"/>
                  </a:lnTo>
                  <a:cubicBezTo>
                    <a:pt x="1104819" y="0"/>
                    <a:pt x="1115721" y="10902"/>
                    <a:pt x="1115721" y="24350"/>
                  </a:cubicBezTo>
                  <a:lnTo>
                    <a:pt x="1115721" y="1097834"/>
                  </a:lnTo>
                  <a:cubicBezTo>
                    <a:pt x="1115721" y="1111282"/>
                    <a:pt x="1104819" y="1122184"/>
                    <a:pt x="1091370" y="1122184"/>
                  </a:cubicBezTo>
                  <a:lnTo>
                    <a:pt x="24350" y="1122184"/>
                  </a:lnTo>
                  <a:cubicBezTo>
                    <a:pt x="10902" y="1122184"/>
                    <a:pt x="0" y="1111282"/>
                    <a:pt x="0" y="1097834"/>
                  </a:cubicBezTo>
                  <a:lnTo>
                    <a:pt x="0" y="24350"/>
                  </a:lnTo>
                  <a:cubicBezTo>
                    <a:pt x="0" y="10902"/>
                    <a:pt x="10902" y="0"/>
                    <a:pt x="24350" y="0"/>
                  </a:cubicBezTo>
                  <a:close/>
                </a:path>
              </a:pathLst>
            </a:custGeom>
            <a:blipFill>
              <a:blip r:embed="rId5"/>
              <a:stretch>
                <a:fillRect l="-289" t="0" r="-289" b="0"/>
              </a:stretch>
            </a:blipFill>
          </p:spPr>
        </p:sp>
      </p:grpSp>
      <p:graphicFrame>
        <p:nvGraphicFramePr>
          <p:cNvPr name="Table 9" id="9"/>
          <p:cNvGraphicFramePr>
            <a:graphicFrameLocks noGrp="true"/>
          </p:cNvGraphicFramePr>
          <p:nvPr/>
        </p:nvGraphicFramePr>
        <p:xfrm>
          <a:off x="1028700" y="4260635"/>
          <a:ext cx="9909856" cy="1578859"/>
        </p:xfrm>
        <a:graphic>
          <a:graphicData uri="http://schemas.openxmlformats.org/drawingml/2006/table">
            <a:tbl>
              <a:tblPr/>
              <a:tblGrid>
                <a:gridCol w="2408583"/>
                <a:gridCol w="1842231"/>
                <a:gridCol w="2634529"/>
                <a:gridCol w="3024513"/>
              </a:tblGrid>
              <a:tr h="531198">
                <a:tc>
                  <a:txBody>
                    <a:bodyPr anchor="t" rtlCol="false"/>
                    <a:lstStyle/>
                    <a:p>
                      <a:pPr algn="ctr">
                        <a:lnSpc>
                          <a:spcPts val="2520"/>
                        </a:lnSpc>
                        <a:defRPr/>
                      </a:pPr>
                      <a:r>
                        <a:rPr lang="en-US" sz="1800" b="true">
                          <a:solidFill>
                            <a:srgbClr val="031B3A"/>
                          </a:solidFill>
                          <a:latin typeface="Garet Bold"/>
                          <a:ea typeface="Garet Bold"/>
                          <a:cs typeface="Garet Bold"/>
                          <a:sym typeface="Garet Bold"/>
                        </a:rPr>
                        <a:t>AUC‑ROC</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b="true">
                          <a:solidFill>
                            <a:srgbClr val="031B3A"/>
                          </a:solidFill>
                          <a:latin typeface="Garet Bold"/>
                          <a:ea typeface="Garet Bold"/>
                          <a:cs typeface="Garet Bold"/>
                          <a:sym typeface="Garet Bold"/>
                        </a:rPr>
                        <a:t>Model</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a:solidFill>
                            <a:srgbClr val="031B3A"/>
                          </a:solidFill>
                          <a:latin typeface="Garet Bold"/>
                          <a:ea typeface="Garet Bold"/>
                          <a:cs typeface="Garet Bold"/>
                          <a:sym typeface="Garet Bold"/>
                        </a:rPr>
                        <a:t>Recall (TARGET=1)</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a:solidFill>
                            <a:srgbClr val="031B3A"/>
                          </a:solidFill>
                          <a:latin typeface="Garet Bold"/>
                          <a:ea typeface="Garet Bold"/>
                          <a:cs typeface="Garet Bold"/>
                          <a:sym typeface="Garet Bold"/>
                        </a:rPr>
                        <a:t>Precision (TARGET=1)</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solidFill>
                      <a:srgbClr val="FFFFFF"/>
                    </a:solidFill>
                  </a:tcPr>
                </a:tc>
              </a:tr>
              <a:tr h="523831">
                <a:tc>
                  <a:txBody>
                    <a:bodyPr anchor="t" rtlCol="false"/>
                    <a:lstStyle/>
                    <a:p>
                      <a:pPr algn="ctr">
                        <a:lnSpc>
                          <a:spcPts val="2520"/>
                        </a:lnSpc>
                        <a:defRPr/>
                      </a:pPr>
                      <a:r>
                        <a:rPr lang="en-US" sz="1800">
                          <a:solidFill>
                            <a:srgbClr val="FFFFFF"/>
                          </a:solidFill>
                          <a:latin typeface="Garet"/>
                          <a:ea typeface="Garet"/>
                          <a:cs typeface="Garet"/>
                          <a:sym typeface="Garet"/>
                        </a:rPr>
                        <a:t>0.7474</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Garet"/>
                          <a:ea typeface="Garet"/>
                          <a:cs typeface="Garet"/>
                          <a:sym typeface="Garet"/>
                        </a:rPr>
                        <a:t>Logistic Reg</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Garet"/>
                          <a:ea typeface="Garet"/>
                          <a:cs typeface="Garet"/>
                          <a:sym typeface="Garet"/>
                        </a:rPr>
                        <a:t>0.68 (68%)</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Garet"/>
                          <a:ea typeface="Garet"/>
                          <a:cs typeface="Garet"/>
                          <a:sym typeface="Garet"/>
                        </a:rPr>
                        <a:t>0.16 (16%)</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r h="523831">
                <a:tc>
                  <a:txBody>
                    <a:bodyPr anchor="t" rtlCol="false"/>
                    <a:lstStyle/>
                    <a:p>
                      <a:pPr algn="ctr">
                        <a:lnSpc>
                          <a:spcPts val="2520"/>
                        </a:lnSpc>
                        <a:defRPr/>
                      </a:pPr>
                      <a:r>
                        <a:rPr lang="en-US" sz="1800">
                          <a:solidFill>
                            <a:srgbClr val="FFFFFF"/>
                          </a:solidFill>
                          <a:latin typeface="Garet"/>
                          <a:ea typeface="Garet"/>
                          <a:cs typeface="Garet"/>
                          <a:sym typeface="Garet"/>
                        </a:rPr>
                        <a:t>0.7429</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Garet"/>
                          <a:ea typeface="Garet"/>
                          <a:cs typeface="Garet"/>
                          <a:sym typeface="Garet"/>
                        </a:rPr>
                        <a:t>Random Forest</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Garet"/>
                          <a:ea typeface="Garet"/>
                          <a:cs typeface="Garet"/>
                          <a:sym typeface="Garet"/>
                        </a:rPr>
                        <a:t>0.63 (63%)</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c>
                  <a:txBody>
                    <a:bodyPr anchor="t" rtlCol="false"/>
                    <a:lstStyle/>
                    <a:p>
                      <a:pPr algn="ctr">
                        <a:lnSpc>
                          <a:spcPts val="2520"/>
                        </a:lnSpc>
                        <a:defRPr/>
                      </a:pPr>
                      <a:r>
                        <a:rPr lang="en-US" sz="1800">
                          <a:solidFill>
                            <a:srgbClr val="FFFFFF"/>
                          </a:solidFill>
                          <a:latin typeface="Garet"/>
                          <a:ea typeface="Garet"/>
                          <a:cs typeface="Garet"/>
                          <a:sym typeface="Garet"/>
                        </a:rPr>
                        <a:t>0.17 (17%)</a:t>
                      </a:r>
                      <a:endParaRPr lang="en-US" sz="1100"/>
                    </a:p>
                  </a:txBody>
                  <a:tcPr marL="57150" marR="57150" marT="57150" marB="57150" anchor="ctr">
                    <a:lnL cmpd="sng" algn="ctr" cap="flat" w="28575">
                      <a:solidFill>
                        <a:srgbClr val="FFFFFF"/>
                      </a:solidFill>
                      <a:prstDash val="solid"/>
                      <a:round/>
                      <a:headEnd type="none" w="med" len="med"/>
                      <a:tailEnd type="none" w="med" len="med"/>
                    </a:lnL>
                    <a:lnR cmpd="sng" algn="ctr" cap="flat" w="28575">
                      <a:solidFill>
                        <a:srgbClr val="FFFFFF"/>
                      </a:solidFill>
                      <a:prstDash val="solid"/>
                      <a:round/>
                      <a:headEnd type="none" w="med" len="med"/>
                      <a:tailEnd type="none" w="med" len="med"/>
                    </a:lnR>
                    <a:lnT cmpd="sng" algn="ctr" cap="flat" w="28575">
                      <a:solidFill>
                        <a:srgbClr val="FFFFFF"/>
                      </a:solidFill>
                      <a:prstDash val="solid"/>
                      <a:round/>
                      <a:headEnd type="none" w="med" len="med"/>
                      <a:tailEnd type="none" w="med" len="med"/>
                    </a:lnT>
                    <a:lnB cmpd="sng" algn="ctr" cap="flat" w="28575">
                      <a:solidFill>
                        <a:srgbClr val="FFFFFF"/>
                      </a:solidFill>
                      <a:prstDash val="solid"/>
                      <a:round/>
                      <a:headEnd type="none" w="med" len="med"/>
                      <a:tailEnd type="none" w="med" len="med"/>
                    </a:lnB>
                  </a:tcPr>
                </a:tc>
              </a:tr>
            </a:tbl>
          </a:graphicData>
        </a:graphic>
      </p:graphicFrame>
      <p:sp>
        <p:nvSpPr>
          <p:cNvPr name="TextBox 10" id="10"/>
          <p:cNvSpPr txBox="true"/>
          <p:nvPr/>
        </p:nvSpPr>
        <p:spPr>
          <a:xfrm rot="0">
            <a:off x="894001" y="1081665"/>
            <a:ext cx="8221547" cy="2007868"/>
          </a:xfrm>
          <a:prstGeom prst="rect">
            <a:avLst/>
          </a:prstGeom>
        </p:spPr>
        <p:txBody>
          <a:bodyPr anchor="t" rtlCol="false" tIns="0" lIns="0" bIns="0" rIns="0">
            <a:spAutoFit/>
          </a:bodyPr>
          <a:lstStyle/>
          <a:p>
            <a:pPr algn="l">
              <a:lnSpc>
                <a:spcPts val="7799"/>
              </a:lnSpc>
            </a:pPr>
            <a:r>
              <a:rPr lang="en-US" sz="7799" b="true">
                <a:solidFill>
                  <a:srgbClr val="FFFFFF"/>
                </a:solidFill>
                <a:latin typeface="Garet Bold"/>
                <a:ea typeface="Garet Bold"/>
                <a:cs typeface="Garet Bold"/>
                <a:sym typeface="Garet Bold"/>
              </a:rPr>
              <a:t>PERFORMANCE MODEL</a:t>
            </a:r>
          </a:p>
        </p:txBody>
      </p:sp>
      <p:sp>
        <p:nvSpPr>
          <p:cNvPr name="TextBox 11" id="11"/>
          <p:cNvSpPr txBox="true"/>
          <p:nvPr/>
        </p:nvSpPr>
        <p:spPr>
          <a:xfrm rot="0">
            <a:off x="1028700" y="3287049"/>
            <a:ext cx="6679611" cy="729261"/>
          </a:xfrm>
          <a:prstGeom prst="rect">
            <a:avLst/>
          </a:prstGeom>
        </p:spPr>
        <p:txBody>
          <a:bodyPr anchor="t" rtlCol="false" tIns="0" lIns="0" bIns="0" rIns="0">
            <a:spAutoFit/>
          </a:bodyPr>
          <a:lstStyle/>
          <a:p>
            <a:pPr algn="l" marL="0" indent="0" lvl="0">
              <a:lnSpc>
                <a:spcPts val="2836"/>
              </a:lnSpc>
              <a:spcBef>
                <a:spcPct val="0"/>
              </a:spcBef>
            </a:pPr>
            <a:r>
              <a:rPr lang="en-US" b="true" sz="2836" strike="noStrike" u="none">
                <a:solidFill>
                  <a:srgbClr val="6CE5E8"/>
                </a:solidFill>
                <a:latin typeface="Garet Bold"/>
                <a:ea typeface="Garet Bold"/>
                <a:cs typeface="Garet Bold"/>
                <a:sym typeface="Garet Bold"/>
              </a:rPr>
              <a:t>Tabel Perbandingan Performance Model yang digunakan</a:t>
            </a:r>
          </a:p>
        </p:txBody>
      </p:sp>
      <p:sp>
        <p:nvSpPr>
          <p:cNvPr name="TextBox 12" id="12"/>
          <p:cNvSpPr txBox="true"/>
          <p:nvPr/>
        </p:nvSpPr>
        <p:spPr>
          <a:xfrm rot="0">
            <a:off x="12049990" y="2116472"/>
            <a:ext cx="4652708" cy="803275"/>
          </a:xfrm>
          <a:prstGeom prst="rect">
            <a:avLst/>
          </a:prstGeom>
        </p:spPr>
        <p:txBody>
          <a:bodyPr anchor="t" rtlCol="false" tIns="0" lIns="0" bIns="0" rIns="0">
            <a:spAutoFit/>
          </a:bodyPr>
          <a:lstStyle/>
          <a:p>
            <a:pPr algn="ctr">
              <a:lnSpc>
                <a:spcPts val="3200"/>
              </a:lnSpc>
            </a:pPr>
            <a:r>
              <a:rPr lang="en-US" b="true" sz="2500">
                <a:solidFill>
                  <a:srgbClr val="6CE5E8"/>
                </a:solidFill>
                <a:latin typeface="Garet Bold"/>
                <a:ea typeface="Garet Bold"/>
                <a:cs typeface="Garet Bold"/>
                <a:sym typeface="Garet Bold"/>
              </a:rPr>
              <a:t>ROC curve dua model (LogReg &amp; RandomForest)</a:t>
            </a:r>
          </a:p>
        </p:txBody>
      </p:sp>
      <p:sp>
        <p:nvSpPr>
          <p:cNvPr name="TextBox 13" id="13"/>
          <p:cNvSpPr txBox="true"/>
          <p:nvPr/>
        </p:nvSpPr>
        <p:spPr>
          <a:xfrm rot="0">
            <a:off x="1028700" y="5980989"/>
            <a:ext cx="9727294" cy="2678616"/>
          </a:xfrm>
          <a:prstGeom prst="rect">
            <a:avLst/>
          </a:prstGeom>
        </p:spPr>
        <p:txBody>
          <a:bodyPr anchor="t" rtlCol="false" tIns="0" lIns="0" bIns="0" rIns="0">
            <a:spAutoFit/>
          </a:bodyPr>
          <a:lstStyle/>
          <a:p>
            <a:pPr algn="l">
              <a:lnSpc>
                <a:spcPts val="3034"/>
              </a:lnSpc>
            </a:pPr>
            <a:r>
              <a:rPr lang="en-US" sz="2167">
                <a:solidFill>
                  <a:srgbClr val="FFFFFF"/>
                </a:solidFill>
                <a:latin typeface="Poppins"/>
                <a:ea typeface="Poppins"/>
                <a:cs typeface="Poppins"/>
                <a:sym typeface="Poppins"/>
              </a:rPr>
              <a:t>Logistic Regression memberikan trade‑off yang sedikit lebih menguntungkan untuk mendeteksi nasabah gagal bayar (recall 68% dengan AUC tertinggi), sedangkan Random Forest menawarkan peningkatan kecil pada precision namun dengan recall yang sedikit lebih rendah. Pada konteks mitigasi risiko kredit, model dengan recall lebih tinggi (Logistic Regression) lebih menarik karena mengurangi jumlah nasabah bermasalah yang terlewat.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grpSp>
        <p:nvGrpSpPr>
          <p:cNvPr name="Group 2" id="2"/>
          <p:cNvGrpSpPr/>
          <p:nvPr/>
        </p:nvGrpSpPr>
        <p:grpSpPr>
          <a:xfrm rot="0">
            <a:off x="-1335773" y="-2318613"/>
            <a:ext cx="6343671" cy="634367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4" id="4"/>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grpSp>
        <p:nvGrpSpPr>
          <p:cNvPr name="Group 5" id="5"/>
          <p:cNvGrpSpPr/>
          <p:nvPr/>
        </p:nvGrpSpPr>
        <p:grpSpPr>
          <a:xfrm rot="0">
            <a:off x="691887" y="3273018"/>
            <a:ext cx="7115170" cy="5236571"/>
            <a:chOff x="0" y="0"/>
            <a:chExt cx="2492516" cy="1834424"/>
          </a:xfrm>
        </p:grpSpPr>
        <p:sp>
          <p:nvSpPr>
            <p:cNvPr name="Freeform 6" id="6"/>
            <p:cNvSpPr/>
            <p:nvPr/>
          </p:nvSpPr>
          <p:spPr>
            <a:xfrm flipH="false" flipV="false" rot="0">
              <a:off x="0" y="0"/>
              <a:ext cx="2492516" cy="1834423"/>
            </a:xfrm>
            <a:custGeom>
              <a:avLst/>
              <a:gdLst/>
              <a:ahLst/>
              <a:cxnLst/>
              <a:rect r="r" b="b" t="t" l="l"/>
              <a:pathLst>
                <a:path h="1834423" w="2492516">
                  <a:moveTo>
                    <a:pt x="25026" y="0"/>
                  </a:moveTo>
                  <a:lnTo>
                    <a:pt x="2467490" y="0"/>
                  </a:lnTo>
                  <a:cubicBezTo>
                    <a:pt x="2481311" y="0"/>
                    <a:pt x="2492516" y="11205"/>
                    <a:pt x="2492516" y="25026"/>
                  </a:cubicBezTo>
                  <a:lnTo>
                    <a:pt x="2492516" y="1809398"/>
                  </a:lnTo>
                  <a:cubicBezTo>
                    <a:pt x="2492516" y="1823219"/>
                    <a:pt x="2481311" y="1834423"/>
                    <a:pt x="2467490" y="1834423"/>
                  </a:cubicBezTo>
                  <a:lnTo>
                    <a:pt x="25026" y="1834423"/>
                  </a:lnTo>
                  <a:cubicBezTo>
                    <a:pt x="11205" y="1834423"/>
                    <a:pt x="0" y="1823219"/>
                    <a:pt x="0" y="1809398"/>
                  </a:cubicBezTo>
                  <a:lnTo>
                    <a:pt x="0" y="25026"/>
                  </a:lnTo>
                  <a:cubicBezTo>
                    <a:pt x="0" y="11205"/>
                    <a:pt x="11205" y="0"/>
                    <a:pt x="25026" y="0"/>
                  </a:cubicBezTo>
                  <a:close/>
                </a:path>
              </a:pathLst>
            </a:custGeom>
            <a:blipFill>
              <a:blip r:embed="rId2"/>
              <a:stretch>
                <a:fillRect l="0" t="-644" r="0" b="-644"/>
              </a:stretch>
            </a:blipFill>
          </p:spPr>
        </p:sp>
      </p:grpSp>
      <p:sp>
        <p:nvSpPr>
          <p:cNvPr name="Freeform 7" id="7"/>
          <p:cNvSpPr/>
          <p:nvPr/>
        </p:nvSpPr>
        <p:spPr>
          <a:xfrm flipH="true" flipV="true" rot="0">
            <a:off x="13336743" y="-664134"/>
            <a:ext cx="4951257" cy="3020267"/>
          </a:xfrm>
          <a:custGeom>
            <a:avLst/>
            <a:gdLst/>
            <a:ahLst/>
            <a:cxnLst/>
            <a:rect r="r" b="b" t="t" l="l"/>
            <a:pathLst>
              <a:path h="3020267" w="4951257">
                <a:moveTo>
                  <a:pt x="4951257" y="3020267"/>
                </a:moveTo>
                <a:lnTo>
                  <a:pt x="0" y="3020267"/>
                </a:lnTo>
                <a:lnTo>
                  <a:pt x="0" y="0"/>
                </a:lnTo>
                <a:lnTo>
                  <a:pt x="4951257" y="0"/>
                </a:lnTo>
                <a:lnTo>
                  <a:pt x="4951257" y="3020267"/>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91887" y="1181100"/>
            <a:ext cx="8382401" cy="2007868"/>
          </a:xfrm>
          <a:prstGeom prst="rect">
            <a:avLst/>
          </a:prstGeom>
        </p:spPr>
        <p:txBody>
          <a:bodyPr anchor="t" rtlCol="false" tIns="0" lIns="0" bIns="0" rIns="0">
            <a:spAutoFit/>
          </a:bodyPr>
          <a:lstStyle/>
          <a:p>
            <a:pPr algn="l">
              <a:lnSpc>
                <a:spcPts val="7799"/>
              </a:lnSpc>
            </a:pPr>
            <a:r>
              <a:rPr lang="en-US" sz="7799" b="true">
                <a:solidFill>
                  <a:srgbClr val="FFFFFF"/>
                </a:solidFill>
                <a:latin typeface="Garet Bold"/>
                <a:ea typeface="Garet Bold"/>
                <a:cs typeface="Garet Bold"/>
                <a:sym typeface="Garet Bold"/>
              </a:rPr>
              <a:t>FITUR PALING BERPENGARUH</a:t>
            </a:r>
          </a:p>
        </p:txBody>
      </p:sp>
      <p:grpSp>
        <p:nvGrpSpPr>
          <p:cNvPr name="Group 9" id="9"/>
          <p:cNvGrpSpPr/>
          <p:nvPr/>
        </p:nvGrpSpPr>
        <p:grpSpPr>
          <a:xfrm rot="0">
            <a:off x="8536749" y="3313541"/>
            <a:ext cx="535426" cy="535426"/>
            <a:chOff x="0" y="0"/>
            <a:chExt cx="713902" cy="713902"/>
          </a:xfrm>
        </p:grpSpPr>
        <p:grpSp>
          <p:nvGrpSpPr>
            <p:cNvPr name="Group 10" id="10"/>
            <p:cNvGrpSpPr/>
            <p:nvPr/>
          </p:nvGrpSpPr>
          <p:grpSpPr>
            <a:xfrm rot="0">
              <a:off x="0" y="0"/>
              <a:ext cx="713902" cy="7139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12" id="12"/>
              <p:cNvSpPr txBox="true"/>
              <p:nvPr/>
            </p:nvSpPr>
            <p:spPr>
              <a:xfrm>
                <a:off x="76200" y="114300"/>
                <a:ext cx="660400" cy="622300"/>
              </a:xfrm>
              <a:prstGeom prst="rect">
                <a:avLst/>
              </a:prstGeom>
            </p:spPr>
            <p:txBody>
              <a:bodyPr anchor="ctr" rtlCol="false" tIns="50800" lIns="50800" bIns="50800" rIns="50800"/>
              <a:lstStyle/>
              <a:p>
                <a:pPr algn="ctr">
                  <a:lnSpc>
                    <a:spcPts val="1799"/>
                  </a:lnSpc>
                </a:pPr>
              </a:p>
            </p:txBody>
          </p:sp>
        </p:grpSp>
        <p:sp>
          <p:nvSpPr>
            <p:cNvPr name="Freeform 13" id="13"/>
            <p:cNvSpPr/>
            <p:nvPr/>
          </p:nvSpPr>
          <p:spPr>
            <a:xfrm flipH="false" flipV="false" rot="0">
              <a:off x="113017" y="113017"/>
              <a:ext cx="487868" cy="487868"/>
            </a:xfrm>
            <a:custGeom>
              <a:avLst/>
              <a:gdLst/>
              <a:ahLst/>
              <a:cxnLst/>
              <a:rect r="r" b="b" t="t" l="l"/>
              <a:pathLst>
                <a:path h="487868" w="487868">
                  <a:moveTo>
                    <a:pt x="0" y="0"/>
                  </a:moveTo>
                  <a:lnTo>
                    <a:pt x="487868" y="0"/>
                  </a:lnTo>
                  <a:lnTo>
                    <a:pt x="487868" y="487868"/>
                  </a:lnTo>
                  <a:lnTo>
                    <a:pt x="0" y="4878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4" id="14"/>
          <p:cNvGrpSpPr/>
          <p:nvPr/>
        </p:nvGrpSpPr>
        <p:grpSpPr>
          <a:xfrm rot="0">
            <a:off x="8519884" y="4801523"/>
            <a:ext cx="535426" cy="535426"/>
            <a:chOff x="0" y="0"/>
            <a:chExt cx="713902" cy="713902"/>
          </a:xfrm>
        </p:grpSpPr>
        <p:grpSp>
          <p:nvGrpSpPr>
            <p:cNvPr name="Group 15" id="15"/>
            <p:cNvGrpSpPr/>
            <p:nvPr/>
          </p:nvGrpSpPr>
          <p:grpSpPr>
            <a:xfrm rot="0">
              <a:off x="0" y="0"/>
              <a:ext cx="713902" cy="71390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18" id="18"/>
            <p:cNvSpPr/>
            <p:nvPr/>
          </p:nvSpPr>
          <p:spPr>
            <a:xfrm flipH="false" flipV="false" rot="0">
              <a:off x="139293" y="143102"/>
              <a:ext cx="435315" cy="427697"/>
            </a:xfrm>
            <a:custGeom>
              <a:avLst/>
              <a:gdLst/>
              <a:ahLst/>
              <a:cxnLst/>
              <a:rect r="r" b="b" t="t" l="l"/>
              <a:pathLst>
                <a:path h="427697" w="435315">
                  <a:moveTo>
                    <a:pt x="0" y="0"/>
                  </a:moveTo>
                  <a:lnTo>
                    <a:pt x="435315" y="0"/>
                  </a:lnTo>
                  <a:lnTo>
                    <a:pt x="435315" y="427697"/>
                  </a:lnTo>
                  <a:lnTo>
                    <a:pt x="0" y="4276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9" id="19"/>
          <p:cNvGrpSpPr/>
          <p:nvPr/>
        </p:nvGrpSpPr>
        <p:grpSpPr>
          <a:xfrm rot="0">
            <a:off x="8536749" y="7270595"/>
            <a:ext cx="535426" cy="535426"/>
            <a:chOff x="0" y="0"/>
            <a:chExt cx="713902" cy="713902"/>
          </a:xfrm>
        </p:grpSpPr>
        <p:grpSp>
          <p:nvGrpSpPr>
            <p:cNvPr name="Group 20" id="20"/>
            <p:cNvGrpSpPr/>
            <p:nvPr/>
          </p:nvGrpSpPr>
          <p:grpSpPr>
            <a:xfrm rot="0">
              <a:off x="0" y="0"/>
              <a:ext cx="713902" cy="71390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22" id="22"/>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23" id="23"/>
            <p:cNvSpPr/>
            <p:nvPr/>
          </p:nvSpPr>
          <p:spPr>
            <a:xfrm flipH="false" flipV="false" rot="0">
              <a:off x="142683" y="149915"/>
              <a:ext cx="428535" cy="414072"/>
            </a:xfrm>
            <a:custGeom>
              <a:avLst/>
              <a:gdLst/>
              <a:ahLst/>
              <a:cxnLst/>
              <a:rect r="r" b="b" t="t" l="l"/>
              <a:pathLst>
                <a:path h="414072" w="428535">
                  <a:moveTo>
                    <a:pt x="0" y="0"/>
                  </a:moveTo>
                  <a:lnTo>
                    <a:pt x="428535" y="0"/>
                  </a:lnTo>
                  <a:lnTo>
                    <a:pt x="428535" y="414072"/>
                  </a:lnTo>
                  <a:lnTo>
                    <a:pt x="0" y="41407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24" id="24"/>
          <p:cNvGrpSpPr/>
          <p:nvPr/>
        </p:nvGrpSpPr>
        <p:grpSpPr>
          <a:xfrm rot="0">
            <a:off x="8519884" y="8331717"/>
            <a:ext cx="535426" cy="535426"/>
            <a:chOff x="0" y="0"/>
            <a:chExt cx="713902" cy="713902"/>
          </a:xfrm>
        </p:grpSpPr>
        <p:grpSp>
          <p:nvGrpSpPr>
            <p:cNvPr name="Group 25" id="25"/>
            <p:cNvGrpSpPr/>
            <p:nvPr/>
          </p:nvGrpSpPr>
          <p:grpSpPr>
            <a:xfrm rot="0">
              <a:off x="0" y="0"/>
              <a:ext cx="713902" cy="71390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sp>
          <p:sp>
            <p:nvSpPr>
              <p:cNvPr name="TextBox 27" id="27"/>
              <p:cNvSpPr txBox="true"/>
              <p:nvPr/>
            </p:nvSpPr>
            <p:spPr>
              <a:xfrm>
                <a:off x="76200" y="104775"/>
                <a:ext cx="660400" cy="631825"/>
              </a:xfrm>
              <a:prstGeom prst="rect">
                <a:avLst/>
              </a:prstGeom>
            </p:spPr>
            <p:txBody>
              <a:bodyPr anchor="ctr" rtlCol="false" tIns="50800" lIns="50800" bIns="50800" rIns="50800"/>
              <a:lstStyle/>
              <a:p>
                <a:pPr algn="ctr">
                  <a:lnSpc>
                    <a:spcPts val="1800"/>
                  </a:lnSpc>
                </a:pPr>
              </a:p>
            </p:txBody>
          </p:sp>
        </p:grpSp>
        <p:sp>
          <p:nvSpPr>
            <p:cNvPr name="Freeform 28" id="28"/>
            <p:cNvSpPr/>
            <p:nvPr/>
          </p:nvSpPr>
          <p:spPr>
            <a:xfrm flipH="false" flipV="false" rot="0">
              <a:off x="167017" y="105383"/>
              <a:ext cx="379868" cy="503136"/>
            </a:xfrm>
            <a:custGeom>
              <a:avLst/>
              <a:gdLst/>
              <a:ahLst/>
              <a:cxnLst/>
              <a:rect r="r" b="b" t="t" l="l"/>
              <a:pathLst>
                <a:path h="503136" w="379868">
                  <a:moveTo>
                    <a:pt x="0" y="0"/>
                  </a:moveTo>
                  <a:lnTo>
                    <a:pt x="379868" y="0"/>
                  </a:lnTo>
                  <a:lnTo>
                    <a:pt x="379868" y="503136"/>
                  </a:lnTo>
                  <a:lnTo>
                    <a:pt x="0" y="5031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
        <p:nvSpPr>
          <p:cNvPr name="TextBox 29" id="29"/>
          <p:cNvSpPr txBox="true"/>
          <p:nvPr/>
        </p:nvSpPr>
        <p:spPr>
          <a:xfrm rot="0">
            <a:off x="9378477" y="3304016"/>
            <a:ext cx="8011888" cy="607274"/>
          </a:xfrm>
          <a:prstGeom prst="rect">
            <a:avLst/>
          </a:prstGeom>
        </p:spPr>
        <p:txBody>
          <a:bodyPr anchor="t" rtlCol="false" tIns="0" lIns="0" bIns="0" rIns="0">
            <a:spAutoFit/>
          </a:bodyPr>
          <a:lstStyle/>
          <a:p>
            <a:pPr algn="l">
              <a:lnSpc>
                <a:spcPts val="2456"/>
              </a:lnSpc>
            </a:pPr>
            <a:r>
              <a:rPr lang="en-US" sz="1949" b="true">
                <a:solidFill>
                  <a:srgbClr val="FFFFFF"/>
                </a:solidFill>
                <a:latin typeface="Garet Bold"/>
                <a:ea typeface="Garet Bold"/>
                <a:cs typeface="Garet Bold"/>
                <a:sym typeface="Garet Bold"/>
              </a:rPr>
              <a:t>Fitur paling berpengaruh dalam prediksi gagal bayar adalah skor eksternal:</a:t>
            </a:r>
          </a:p>
        </p:txBody>
      </p:sp>
      <p:sp>
        <p:nvSpPr>
          <p:cNvPr name="TextBox 30" id="30"/>
          <p:cNvSpPr txBox="true"/>
          <p:nvPr/>
        </p:nvSpPr>
        <p:spPr>
          <a:xfrm rot="0">
            <a:off x="9364611" y="3996484"/>
            <a:ext cx="7597566" cy="570712"/>
          </a:xfrm>
          <a:prstGeom prst="rect">
            <a:avLst/>
          </a:prstGeom>
        </p:spPr>
        <p:txBody>
          <a:bodyPr anchor="t" rtlCol="false" tIns="0" lIns="0" bIns="0" rIns="0">
            <a:spAutoFit/>
          </a:bodyPr>
          <a:lstStyle/>
          <a:p>
            <a:pPr algn="l" marL="377296" indent="-188648" lvl="1">
              <a:lnSpc>
                <a:spcPts val="2236"/>
              </a:lnSpc>
              <a:buFont typeface="Arial"/>
              <a:buChar char="•"/>
            </a:pPr>
            <a:r>
              <a:rPr lang="en-US" sz="1747">
                <a:solidFill>
                  <a:srgbClr val="FFFFFF"/>
                </a:solidFill>
                <a:latin typeface="Poppins"/>
                <a:ea typeface="Poppins"/>
                <a:cs typeface="Poppins"/>
                <a:sym typeface="Poppins"/>
              </a:rPr>
              <a:t>EXT_SOURCE_3, EXT_SOURCE_2, EXT_SOURCE_1</a:t>
            </a:r>
          </a:p>
          <a:p>
            <a:pPr algn="l">
              <a:lnSpc>
                <a:spcPts val="2236"/>
              </a:lnSpc>
            </a:pPr>
            <a:r>
              <a:rPr lang="en-US" sz="1747" i="true">
                <a:solidFill>
                  <a:srgbClr val="FFFFFF"/>
                </a:solidFill>
                <a:latin typeface="Poppins Italics"/>
                <a:ea typeface="Poppins Italics"/>
                <a:cs typeface="Poppins Italics"/>
                <a:sym typeface="Poppins Italics"/>
              </a:rPr>
              <a:t>(</a:t>
            </a:r>
            <a:r>
              <a:rPr lang="en-US" sz="1747" i="true">
                <a:solidFill>
                  <a:srgbClr val="FFFFFF"/>
                </a:solidFill>
                <a:latin typeface="Poppins Italics"/>
                <a:ea typeface="Poppins Italics"/>
                <a:cs typeface="Poppins Italics"/>
                <a:sym typeface="Poppins Italics"/>
              </a:rPr>
              <a:t>skor kredit dari pihak ketiga sangat menentukan risiko nasabah)</a:t>
            </a:r>
          </a:p>
        </p:txBody>
      </p:sp>
      <p:sp>
        <p:nvSpPr>
          <p:cNvPr name="TextBox 31" id="31"/>
          <p:cNvSpPr txBox="true"/>
          <p:nvPr/>
        </p:nvSpPr>
        <p:spPr>
          <a:xfrm rot="0">
            <a:off x="9364611" y="4791998"/>
            <a:ext cx="8011888" cy="300972"/>
          </a:xfrm>
          <a:prstGeom prst="rect">
            <a:avLst/>
          </a:prstGeom>
        </p:spPr>
        <p:txBody>
          <a:bodyPr anchor="t" rtlCol="false" tIns="0" lIns="0" bIns="0" rIns="0">
            <a:spAutoFit/>
          </a:bodyPr>
          <a:lstStyle/>
          <a:p>
            <a:pPr algn="l">
              <a:lnSpc>
                <a:spcPts val="2456"/>
              </a:lnSpc>
            </a:pPr>
            <a:r>
              <a:rPr lang="en-US" sz="1949" b="true">
                <a:solidFill>
                  <a:srgbClr val="FFFFFF"/>
                </a:solidFill>
                <a:latin typeface="Garet Bold"/>
                <a:ea typeface="Garet Bold"/>
                <a:cs typeface="Garet Bold"/>
                <a:sym typeface="Garet Bold"/>
              </a:rPr>
              <a:t>Fitur demografi dan keuangan juga penting:</a:t>
            </a:r>
          </a:p>
        </p:txBody>
      </p:sp>
      <p:sp>
        <p:nvSpPr>
          <p:cNvPr name="TextBox 32" id="32"/>
          <p:cNvSpPr txBox="true"/>
          <p:nvPr/>
        </p:nvSpPr>
        <p:spPr>
          <a:xfrm rot="0">
            <a:off x="9364611" y="5178165"/>
            <a:ext cx="7597566" cy="1970441"/>
          </a:xfrm>
          <a:prstGeom prst="rect">
            <a:avLst/>
          </a:prstGeom>
        </p:spPr>
        <p:txBody>
          <a:bodyPr anchor="t" rtlCol="false" tIns="0" lIns="0" bIns="0" rIns="0">
            <a:spAutoFit/>
          </a:bodyPr>
          <a:lstStyle/>
          <a:p>
            <a:pPr algn="l" marL="377296" indent="-188648" lvl="1">
              <a:lnSpc>
                <a:spcPts val="2236"/>
              </a:lnSpc>
              <a:buFont typeface="Arial"/>
              <a:buChar char="•"/>
            </a:pPr>
            <a:r>
              <a:rPr lang="en-US" sz="1747">
                <a:solidFill>
                  <a:srgbClr val="FFFFFF"/>
                </a:solidFill>
                <a:latin typeface="Poppins"/>
                <a:ea typeface="Poppins"/>
                <a:cs typeface="Poppins"/>
                <a:sym typeface="Poppins"/>
              </a:rPr>
              <a:t>AGE_YEARS, EMPLOY_YEARS </a:t>
            </a:r>
            <a:r>
              <a:rPr lang="en-US" sz="1747">
                <a:solidFill>
                  <a:srgbClr val="FFFFFF"/>
                </a:solidFill>
                <a:latin typeface="Poppins"/>
                <a:ea typeface="Poppins"/>
                <a:cs typeface="Poppins"/>
                <a:sym typeface="Poppins"/>
              </a:rPr>
              <a:t>(</a:t>
            </a:r>
            <a:r>
              <a:rPr lang="en-US" sz="1747">
                <a:solidFill>
                  <a:srgbClr val="FFFFFF"/>
                </a:solidFill>
                <a:latin typeface="Poppins"/>
                <a:ea typeface="Poppins"/>
                <a:cs typeface="Poppins"/>
                <a:sym typeface="Poppins"/>
              </a:rPr>
              <a:t>umu</a:t>
            </a:r>
            <a:r>
              <a:rPr lang="en-US" sz="1747">
                <a:solidFill>
                  <a:srgbClr val="FFFFFF"/>
                </a:solidFill>
                <a:latin typeface="Poppins"/>
                <a:ea typeface="Poppins"/>
                <a:cs typeface="Poppins"/>
                <a:sym typeface="Poppins"/>
              </a:rPr>
              <a:t>r </a:t>
            </a:r>
            <a:r>
              <a:rPr lang="en-US" sz="1747">
                <a:solidFill>
                  <a:srgbClr val="FFFFFF"/>
                </a:solidFill>
                <a:latin typeface="Poppins"/>
                <a:ea typeface="Poppins"/>
                <a:cs typeface="Poppins"/>
                <a:sym typeface="Poppins"/>
              </a:rPr>
              <a:t>&amp; lama be</a:t>
            </a:r>
            <a:r>
              <a:rPr lang="en-US" sz="1747">
                <a:solidFill>
                  <a:srgbClr val="FFFFFF"/>
                </a:solidFill>
                <a:latin typeface="Poppins"/>
                <a:ea typeface="Poppins"/>
                <a:cs typeface="Poppins"/>
                <a:sym typeface="Poppins"/>
              </a:rPr>
              <a:t>k</a:t>
            </a:r>
            <a:r>
              <a:rPr lang="en-US" sz="1747">
                <a:solidFill>
                  <a:srgbClr val="FFFFFF"/>
                </a:solidFill>
                <a:latin typeface="Poppins"/>
                <a:ea typeface="Poppins"/>
                <a:cs typeface="Poppins"/>
                <a:sym typeface="Poppins"/>
              </a:rPr>
              <a:t>e</a:t>
            </a:r>
            <a:r>
              <a:rPr lang="en-US" sz="1747">
                <a:solidFill>
                  <a:srgbClr val="FFFFFF"/>
                </a:solidFill>
                <a:latin typeface="Poppins"/>
                <a:ea typeface="Poppins"/>
                <a:cs typeface="Poppins"/>
                <a:sym typeface="Poppins"/>
              </a:rPr>
              <a:t>r</a:t>
            </a:r>
            <a:r>
              <a:rPr lang="en-US" sz="1747">
                <a:solidFill>
                  <a:srgbClr val="FFFFFF"/>
                </a:solidFill>
                <a:latin typeface="Poppins"/>
                <a:ea typeface="Poppins"/>
                <a:cs typeface="Poppins"/>
                <a:sym typeface="Poppins"/>
              </a:rPr>
              <a:t>ja—nasabah l</a:t>
            </a:r>
            <a:r>
              <a:rPr lang="en-US" sz="1747">
                <a:solidFill>
                  <a:srgbClr val="FFFFFF"/>
                </a:solidFill>
                <a:latin typeface="Poppins"/>
                <a:ea typeface="Poppins"/>
                <a:cs typeface="Poppins"/>
                <a:sym typeface="Poppins"/>
              </a:rPr>
              <a:t>e</a:t>
            </a:r>
            <a:r>
              <a:rPr lang="en-US" sz="1747">
                <a:solidFill>
                  <a:srgbClr val="FFFFFF"/>
                </a:solidFill>
                <a:latin typeface="Poppins"/>
                <a:ea typeface="Poppins"/>
                <a:cs typeface="Poppins"/>
                <a:sym typeface="Poppins"/>
              </a:rPr>
              <a:t>b</a:t>
            </a:r>
            <a:r>
              <a:rPr lang="en-US" sz="1747">
                <a:solidFill>
                  <a:srgbClr val="FFFFFF"/>
                </a:solidFill>
                <a:latin typeface="Poppins"/>
                <a:ea typeface="Poppins"/>
                <a:cs typeface="Poppins"/>
                <a:sym typeface="Poppins"/>
              </a:rPr>
              <a:t>i</a:t>
            </a:r>
            <a:r>
              <a:rPr lang="en-US" sz="1747">
                <a:solidFill>
                  <a:srgbClr val="FFFFFF"/>
                </a:solidFill>
                <a:latin typeface="Poppins"/>
                <a:ea typeface="Poppins"/>
                <a:cs typeface="Poppins"/>
                <a:sym typeface="Poppins"/>
              </a:rPr>
              <a:t>h </a:t>
            </a:r>
            <a:r>
              <a:rPr lang="en-US" sz="1747">
                <a:solidFill>
                  <a:srgbClr val="FFFFFF"/>
                </a:solidFill>
                <a:latin typeface="Poppins"/>
                <a:ea typeface="Poppins"/>
                <a:cs typeface="Poppins"/>
                <a:sym typeface="Poppins"/>
              </a:rPr>
              <a:t>t</a:t>
            </a:r>
            <a:r>
              <a:rPr lang="en-US" sz="1747">
                <a:solidFill>
                  <a:srgbClr val="FFFFFF"/>
                </a:solidFill>
                <a:latin typeface="Poppins"/>
                <a:ea typeface="Poppins"/>
                <a:cs typeface="Poppins"/>
                <a:sym typeface="Poppins"/>
              </a:rPr>
              <a:t>ua/berpengalaman</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cen</a:t>
            </a:r>
            <a:r>
              <a:rPr lang="en-US" sz="1747">
                <a:solidFill>
                  <a:srgbClr val="FFFFFF"/>
                </a:solidFill>
                <a:latin typeface="Poppins"/>
                <a:ea typeface="Poppins"/>
                <a:cs typeface="Poppins"/>
                <a:sym typeface="Poppins"/>
              </a:rPr>
              <a:t>d</a:t>
            </a:r>
            <a:r>
              <a:rPr lang="en-US" sz="1747">
                <a:solidFill>
                  <a:srgbClr val="FFFFFF"/>
                </a:solidFill>
                <a:latin typeface="Poppins"/>
                <a:ea typeface="Poppins"/>
                <a:cs typeface="Poppins"/>
                <a:sym typeface="Poppins"/>
              </a:rPr>
              <a:t>e</a:t>
            </a:r>
            <a:r>
              <a:rPr lang="en-US" sz="1747">
                <a:solidFill>
                  <a:srgbClr val="FFFFFF"/>
                </a:solidFill>
                <a:latin typeface="Poppins"/>
                <a:ea typeface="Poppins"/>
                <a:cs typeface="Poppins"/>
                <a:sym typeface="Poppins"/>
              </a:rPr>
              <a:t>r</a:t>
            </a:r>
            <a:r>
              <a:rPr lang="en-US" sz="1747">
                <a:solidFill>
                  <a:srgbClr val="FFFFFF"/>
                </a:solidFill>
                <a:latin typeface="Poppins"/>
                <a:ea typeface="Poppins"/>
                <a:cs typeface="Poppins"/>
                <a:sym typeface="Poppins"/>
              </a:rPr>
              <a:t>ung</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leb</a:t>
            </a:r>
            <a:r>
              <a:rPr lang="en-US" sz="1747">
                <a:solidFill>
                  <a:srgbClr val="FFFFFF"/>
                </a:solidFill>
                <a:latin typeface="Poppins"/>
                <a:ea typeface="Poppins"/>
                <a:cs typeface="Poppins"/>
                <a:sym typeface="Poppins"/>
              </a:rPr>
              <a:t>ih</a:t>
            </a:r>
            <a:r>
              <a:rPr lang="en-US" sz="1747">
                <a:solidFill>
                  <a:srgbClr val="FFFFFF"/>
                </a:solidFill>
                <a:latin typeface="Poppins"/>
                <a:ea typeface="Poppins"/>
                <a:cs typeface="Poppins"/>
                <a:sym typeface="Poppins"/>
              </a:rPr>
              <a:t> am</a:t>
            </a:r>
            <a:r>
              <a:rPr lang="en-US" sz="1747">
                <a:solidFill>
                  <a:srgbClr val="FFFFFF"/>
                </a:solidFill>
                <a:latin typeface="Poppins"/>
                <a:ea typeface="Poppins"/>
                <a:cs typeface="Poppins"/>
                <a:sym typeface="Poppins"/>
              </a:rPr>
              <a:t>a</a:t>
            </a:r>
            <a:r>
              <a:rPr lang="en-US" sz="1747">
                <a:solidFill>
                  <a:srgbClr val="FFFFFF"/>
                </a:solidFill>
                <a:latin typeface="Poppins"/>
                <a:ea typeface="Poppins"/>
                <a:cs typeface="Poppins"/>
                <a:sym typeface="Poppins"/>
              </a:rPr>
              <a:t>n)</a:t>
            </a:r>
          </a:p>
          <a:p>
            <a:pPr algn="l" marL="377296" indent="-188648" lvl="1">
              <a:lnSpc>
                <a:spcPts val="2236"/>
              </a:lnSpc>
              <a:buFont typeface="Arial"/>
              <a:buChar char="•"/>
            </a:pPr>
            <a:r>
              <a:rPr lang="en-US" sz="1747">
                <a:solidFill>
                  <a:srgbClr val="FFFFFF"/>
                </a:solidFill>
                <a:latin typeface="Poppins"/>
                <a:ea typeface="Poppins"/>
                <a:cs typeface="Poppins"/>
                <a:sym typeface="Poppins"/>
              </a:rPr>
              <a:t>BUREAU_TOTAL_DEBT</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a:t>
            </a:r>
            <a:r>
              <a:rPr lang="en-US" sz="1747">
                <a:solidFill>
                  <a:srgbClr val="FFFFFF"/>
                </a:solidFill>
                <a:latin typeface="Poppins"/>
                <a:ea typeface="Poppins"/>
                <a:cs typeface="Poppins"/>
                <a:sym typeface="Poppins"/>
              </a:rPr>
              <a:t>t</a:t>
            </a:r>
            <a:r>
              <a:rPr lang="en-US" sz="1747">
                <a:solidFill>
                  <a:srgbClr val="FFFFFF"/>
                </a:solidFill>
                <a:latin typeface="Poppins"/>
                <a:ea typeface="Poppins"/>
                <a:cs typeface="Poppins"/>
                <a:sym typeface="Poppins"/>
              </a:rPr>
              <a:t>ot</a:t>
            </a:r>
            <a:r>
              <a:rPr lang="en-US" sz="1747">
                <a:solidFill>
                  <a:srgbClr val="FFFFFF"/>
                </a:solidFill>
                <a:latin typeface="Poppins"/>
                <a:ea typeface="Poppins"/>
                <a:cs typeface="Poppins"/>
                <a:sym typeface="Poppins"/>
              </a:rPr>
              <a:t>a</a:t>
            </a:r>
            <a:r>
              <a:rPr lang="en-US" sz="1747">
                <a:solidFill>
                  <a:srgbClr val="FFFFFF"/>
                </a:solidFill>
                <a:latin typeface="Poppins"/>
                <a:ea typeface="Poppins"/>
                <a:cs typeface="Poppins"/>
                <a:sym typeface="Poppins"/>
              </a:rPr>
              <a:t>l</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ut</a:t>
            </a:r>
            <a:r>
              <a:rPr lang="en-US" sz="1747">
                <a:solidFill>
                  <a:srgbClr val="FFFFFF"/>
                </a:solidFill>
                <a:latin typeface="Poppins"/>
                <a:ea typeface="Poppins"/>
                <a:cs typeface="Poppins"/>
                <a:sym typeface="Poppins"/>
              </a:rPr>
              <a:t>ang</a:t>
            </a:r>
            <a:r>
              <a:rPr lang="en-US" sz="1747">
                <a:solidFill>
                  <a:srgbClr val="FFFFFF"/>
                </a:solidFill>
                <a:latin typeface="Poppins"/>
                <a:ea typeface="Poppins"/>
                <a:cs typeface="Poppins"/>
                <a:sym typeface="Poppins"/>
              </a:rPr>
              <a:t> di lemb</a:t>
            </a:r>
            <a:r>
              <a:rPr lang="en-US" sz="1747">
                <a:solidFill>
                  <a:srgbClr val="FFFFFF"/>
                </a:solidFill>
                <a:latin typeface="Poppins"/>
                <a:ea typeface="Poppins"/>
                <a:cs typeface="Poppins"/>
                <a:sym typeface="Poppins"/>
              </a:rPr>
              <a:t>a</a:t>
            </a:r>
            <a:r>
              <a:rPr lang="en-US" sz="1747">
                <a:solidFill>
                  <a:srgbClr val="FFFFFF"/>
                </a:solidFill>
                <a:latin typeface="Poppins"/>
                <a:ea typeface="Poppins"/>
                <a:cs typeface="Poppins"/>
                <a:sym typeface="Poppins"/>
              </a:rPr>
              <a:t>ga lain)</a:t>
            </a:r>
          </a:p>
          <a:p>
            <a:pPr algn="l" marL="377296" indent="-188648" lvl="1">
              <a:lnSpc>
                <a:spcPts val="2236"/>
              </a:lnSpc>
              <a:buFont typeface="Arial"/>
              <a:buChar char="•"/>
            </a:pPr>
            <a:r>
              <a:rPr lang="en-US" sz="1747">
                <a:solidFill>
                  <a:srgbClr val="FFFFFF"/>
                </a:solidFill>
                <a:latin typeface="Poppins"/>
                <a:ea typeface="Poppins"/>
                <a:cs typeface="Poppins"/>
                <a:sym typeface="Poppins"/>
              </a:rPr>
              <a:t>PREV_APPROVAL_RATE</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(p</a:t>
            </a:r>
            <a:r>
              <a:rPr lang="en-US" sz="1747">
                <a:solidFill>
                  <a:srgbClr val="FFFFFF"/>
                </a:solidFill>
                <a:latin typeface="Poppins"/>
                <a:ea typeface="Poppins"/>
                <a:cs typeface="Poppins"/>
                <a:sym typeface="Poppins"/>
              </a:rPr>
              <a:t>e</a:t>
            </a:r>
            <a:r>
              <a:rPr lang="en-US" sz="1747">
                <a:solidFill>
                  <a:srgbClr val="FFFFFF"/>
                </a:solidFill>
                <a:latin typeface="Poppins"/>
                <a:ea typeface="Poppins"/>
                <a:cs typeface="Poppins"/>
                <a:sym typeface="Poppins"/>
              </a:rPr>
              <a:t>rs</a:t>
            </a:r>
            <a:r>
              <a:rPr lang="en-US" sz="1747">
                <a:solidFill>
                  <a:srgbClr val="FFFFFF"/>
                </a:solidFill>
                <a:latin typeface="Poppins"/>
                <a:ea typeface="Poppins"/>
                <a:cs typeface="Poppins"/>
                <a:sym typeface="Poppins"/>
              </a:rPr>
              <a:t>ent</a:t>
            </a:r>
            <a:r>
              <a:rPr lang="en-US" sz="1747">
                <a:solidFill>
                  <a:srgbClr val="FFFFFF"/>
                </a:solidFill>
                <a:latin typeface="Poppins"/>
                <a:ea typeface="Poppins"/>
                <a:cs typeface="Poppins"/>
                <a:sym typeface="Poppins"/>
              </a:rPr>
              <a:t>ase apli</a:t>
            </a:r>
            <a:r>
              <a:rPr lang="en-US" sz="1747">
                <a:solidFill>
                  <a:srgbClr val="FFFFFF"/>
                </a:solidFill>
                <a:latin typeface="Poppins"/>
                <a:ea typeface="Poppins"/>
                <a:cs typeface="Poppins"/>
                <a:sym typeface="Poppins"/>
              </a:rPr>
              <a:t>ka</a:t>
            </a:r>
            <a:r>
              <a:rPr lang="en-US" sz="1747">
                <a:solidFill>
                  <a:srgbClr val="FFFFFF"/>
                </a:solidFill>
                <a:latin typeface="Poppins"/>
                <a:ea typeface="Poppins"/>
                <a:cs typeface="Poppins"/>
                <a:sym typeface="Poppins"/>
              </a:rPr>
              <a:t>si sebelum</a:t>
            </a:r>
            <a:r>
              <a:rPr lang="en-US" sz="1747">
                <a:solidFill>
                  <a:srgbClr val="FFFFFF"/>
                </a:solidFill>
                <a:latin typeface="Poppins"/>
                <a:ea typeface="Poppins"/>
                <a:cs typeface="Poppins"/>
                <a:sym typeface="Poppins"/>
              </a:rPr>
              <a:t>n</a:t>
            </a:r>
            <a:r>
              <a:rPr lang="en-US" sz="1747">
                <a:solidFill>
                  <a:srgbClr val="FFFFFF"/>
                </a:solidFill>
                <a:latin typeface="Poppins"/>
                <a:ea typeface="Poppins"/>
                <a:cs typeface="Poppins"/>
                <a:sym typeface="Poppins"/>
              </a:rPr>
              <a:t>ya</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yang d</a:t>
            </a:r>
            <a:r>
              <a:rPr lang="en-US" sz="1747">
                <a:solidFill>
                  <a:srgbClr val="FFFFFF"/>
                </a:solidFill>
                <a:latin typeface="Poppins"/>
                <a:ea typeface="Poppins"/>
                <a:cs typeface="Poppins"/>
                <a:sym typeface="Poppins"/>
              </a:rPr>
              <a:t>is</a:t>
            </a:r>
            <a:r>
              <a:rPr lang="en-US" sz="1747">
                <a:solidFill>
                  <a:srgbClr val="FFFFFF"/>
                </a:solidFill>
                <a:latin typeface="Poppins"/>
                <a:ea typeface="Poppins"/>
                <a:cs typeface="Poppins"/>
                <a:sym typeface="Poppins"/>
              </a:rPr>
              <a:t>etuju</a:t>
            </a:r>
            <a:r>
              <a:rPr lang="en-US" sz="1747">
                <a:solidFill>
                  <a:srgbClr val="FFFFFF"/>
                </a:solidFill>
                <a:latin typeface="Poppins"/>
                <a:ea typeface="Poppins"/>
                <a:cs typeface="Poppins"/>
                <a:sym typeface="Poppins"/>
              </a:rPr>
              <a:t>i</a:t>
            </a:r>
            <a:r>
              <a:rPr lang="en-US" sz="1747">
                <a:solidFill>
                  <a:srgbClr val="FFFFFF"/>
                </a:solidFill>
                <a:latin typeface="Poppins"/>
                <a:ea typeface="Poppins"/>
                <a:cs typeface="Poppins"/>
                <a:sym typeface="Poppins"/>
              </a:rPr>
              <a:t>)</a:t>
            </a:r>
          </a:p>
          <a:p>
            <a:pPr algn="l" marL="377296" indent="-188648" lvl="1">
              <a:lnSpc>
                <a:spcPts val="2236"/>
              </a:lnSpc>
              <a:buFont typeface="Arial"/>
              <a:buChar char="•"/>
            </a:pPr>
            <a:r>
              <a:rPr lang="en-US" sz="1747">
                <a:solidFill>
                  <a:srgbClr val="FFFFFF"/>
                </a:solidFill>
                <a:latin typeface="Poppins"/>
                <a:ea typeface="Poppins"/>
                <a:cs typeface="Poppins"/>
                <a:sym typeface="Poppins"/>
              </a:rPr>
              <a:t>AMT_GOODS_PRICE, AMT_CREDIT (besar</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pi</a:t>
            </a:r>
            <a:r>
              <a:rPr lang="en-US" sz="1747">
                <a:solidFill>
                  <a:srgbClr val="FFFFFF"/>
                </a:solidFill>
                <a:latin typeface="Poppins"/>
                <a:ea typeface="Poppins"/>
                <a:cs typeface="Poppins"/>
                <a:sym typeface="Poppins"/>
              </a:rPr>
              <a:t>n</a:t>
            </a:r>
            <a:r>
              <a:rPr lang="en-US" sz="1747">
                <a:solidFill>
                  <a:srgbClr val="FFFFFF"/>
                </a:solidFill>
                <a:latin typeface="Poppins"/>
                <a:ea typeface="Poppins"/>
                <a:cs typeface="Poppins"/>
                <a:sym typeface="Poppins"/>
              </a:rPr>
              <a:t>j</a:t>
            </a:r>
            <a:r>
              <a:rPr lang="en-US" sz="1747">
                <a:solidFill>
                  <a:srgbClr val="FFFFFF"/>
                </a:solidFill>
                <a:latin typeface="Poppins"/>
                <a:ea typeface="Poppins"/>
                <a:cs typeface="Poppins"/>
                <a:sym typeface="Poppins"/>
              </a:rPr>
              <a:t>a</a:t>
            </a:r>
            <a:r>
              <a:rPr lang="en-US" sz="1747">
                <a:solidFill>
                  <a:srgbClr val="FFFFFF"/>
                </a:solidFill>
                <a:latin typeface="Poppins"/>
                <a:ea typeface="Poppins"/>
                <a:cs typeface="Poppins"/>
                <a:sym typeface="Poppins"/>
              </a:rPr>
              <a:t>m</a:t>
            </a:r>
            <a:r>
              <a:rPr lang="en-US" sz="1747">
                <a:solidFill>
                  <a:srgbClr val="FFFFFF"/>
                </a:solidFill>
                <a:latin typeface="Poppins"/>
                <a:ea typeface="Poppins"/>
                <a:cs typeface="Poppins"/>
                <a:sym typeface="Poppins"/>
              </a:rPr>
              <a:t>a</a:t>
            </a:r>
            <a:r>
              <a:rPr lang="en-US" sz="1747">
                <a:solidFill>
                  <a:srgbClr val="FFFFFF"/>
                </a:solidFill>
                <a:latin typeface="Poppins"/>
                <a:ea typeface="Poppins"/>
                <a:cs typeface="Poppins"/>
                <a:sym typeface="Poppins"/>
              </a:rPr>
              <a:t>n &amp; harga </a:t>
            </a:r>
            <a:r>
              <a:rPr lang="en-US" sz="1747">
                <a:solidFill>
                  <a:srgbClr val="FFFFFF"/>
                </a:solidFill>
                <a:latin typeface="Poppins"/>
                <a:ea typeface="Poppins"/>
                <a:cs typeface="Poppins"/>
                <a:sym typeface="Poppins"/>
              </a:rPr>
              <a:t>ba</a:t>
            </a:r>
            <a:r>
              <a:rPr lang="en-US" sz="1747">
                <a:solidFill>
                  <a:srgbClr val="FFFFFF"/>
                </a:solidFill>
                <a:latin typeface="Poppins"/>
                <a:ea typeface="Poppins"/>
                <a:cs typeface="Poppins"/>
                <a:sym typeface="Poppins"/>
              </a:rPr>
              <a:t>rang</a:t>
            </a:r>
            <a:r>
              <a:rPr lang="en-US" sz="1747">
                <a:solidFill>
                  <a:srgbClr val="FFFFFF"/>
                </a:solidFill>
                <a:latin typeface="Poppins"/>
                <a:ea typeface="Poppins"/>
                <a:cs typeface="Poppins"/>
                <a:sym typeface="Poppins"/>
              </a:rPr>
              <a:t>)</a:t>
            </a:r>
          </a:p>
        </p:txBody>
      </p:sp>
      <p:sp>
        <p:nvSpPr>
          <p:cNvPr name="TextBox 33" id="33"/>
          <p:cNvSpPr txBox="true"/>
          <p:nvPr/>
        </p:nvSpPr>
        <p:spPr>
          <a:xfrm rot="0">
            <a:off x="9364611" y="7261070"/>
            <a:ext cx="8011888" cy="300972"/>
          </a:xfrm>
          <a:prstGeom prst="rect">
            <a:avLst/>
          </a:prstGeom>
        </p:spPr>
        <p:txBody>
          <a:bodyPr anchor="t" rtlCol="false" tIns="0" lIns="0" bIns="0" rIns="0">
            <a:spAutoFit/>
          </a:bodyPr>
          <a:lstStyle/>
          <a:p>
            <a:pPr algn="l">
              <a:lnSpc>
                <a:spcPts val="2456"/>
              </a:lnSpc>
            </a:pPr>
            <a:r>
              <a:rPr lang="en-US" sz="1949" b="true">
                <a:solidFill>
                  <a:srgbClr val="FFFFFF"/>
                </a:solidFill>
                <a:latin typeface="Garet Bold"/>
                <a:ea typeface="Garet Bold"/>
                <a:cs typeface="Garet Bold"/>
                <a:sym typeface="Garet Bold"/>
              </a:rPr>
              <a:t>Fitur perilaku &amp; riwayat pembayaran:</a:t>
            </a:r>
          </a:p>
        </p:txBody>
      </p:sp>
      <p:sp>
        <p:nvSpPr>
          <p:cNvPr name="TextBox 34" id="34"/>
          <p:cNvSpPr txBox="true"/>
          <p:nvPr/>
        </p:nvSpPr>
        <p:spPr>
          <a:xfrm rot="0">
            <a:off x="9364611" y="7647236"/>
            <a:ext cx="7597566" cy="570712"/>
          </a:xfrm>
          <a:prstGeom prst="rect">
            <a:avLst/>
          </a:prstGeom>
        </p:spPr>
        <p:txBody>
          <a:bodyPr anchor="t" rtlCol="false" tIns="0" lIns="0" bIns="0" rIns="0">
            <a:spAutoFit/>
          </a:bodyPr>
          <a:lstStyle/>
          <a:p>
            <a:pPr algn="l" marL="377296" indent="-188648" lvl="1">
              <a:lnSpc>
                <a:spcPts val="2236"/>
              </a:lnSpc>
              <a:buFont typeface="Arial"/>
              <a:buChar char="•"/>
            </a:pPr>
            <a:r>
              <a:rPr lang="en-US" sz="1747">
                <a:solidFill>
                  <a:srgbClr val="FFFFFF"/>
                </a:solidFill>
                <a:latin typeface="Poppins"/>
                <a:ea typeface="Poppins"/>
                <a:cs typeface="Poppins"/>
                <a:sym typeface="Poppins"/>
              </a:rPr>
              <a:t>LATE_PAYMENT_RATE </a:t>
            </a:r>
            <a:r>
              <a:rPr lang="en-US" sz="1747">
                <a:solidFill>
                  <a:srgbClr val="FFFFFF"/>
                </a:solidFill>
                <a:latin typeface="Poppins"/>
                <a:ea typeface="Poppins"/>
                <a:cs typeface="Poppins"/>
                <a:sym typeface="Poppins"/>
              </a:rPr>
              <a:t>(p</a:t>
            </a:r>
            <a:r>
              <a:rPr lang="en-US" sz="1747">
                <a:solidFill>
                  <a:srgbClr val="FFFFFF"/>
                </a:solidFill>
                <a:latin typeface="Poppins"/>
                <a:ea typeface="Poppins"/>
                <a:cs typeface="Poppins"/>
                <a:sym typeface="Poppins"/>
              </a:rPr>
              <a:t>ropor</a:t>
            </a:r>
            <a:r>
              <a:rPr lang="en-US" sz="1747">
                <a:solidFill>
                  <a:srgbClr val="FFFFFF"/>
                </a:solidFill>
                <a:latin typeface="Poppins"/>
                <a:ea typeface="Poppins"/>
                <a:cs typeface="Poppins"/>
                <a:sym typeface="Poppins"/>
              </a:rPr>
              <a:t>s</a:t>
            </a:r>
            <a:r>
              <a:rPr lang="en-US" sz="1747">
                <a:solidFill>
                  <a:srgbClr val="FFFFFF"/>
                </a:solidFill>
                <a:latin typeface="Poppins"/>
                <a:ea typeface="Poppins"/>
                <a:cs typeface="Poppins"/>
                <a:sym typeface="Poppins"/>
              </a:rPr>
              <a:t>i</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t</a:t>
            </a:r>
            <a:r>
              <a:rPr lang="en-US" sz="1747">
                <a:solidFill>
                  <a:srgbClr val="FFFFFF"/>
                </a:solidFill>
                <a:latin typeface="Poppins"/>
                <a:ea typeface="Poppins"/>
                <a:cs typeface="Poppins"/>
                <a:sym typeface="Poppins"/>
              </a:rPr>
              <a:t>elat</a:t>
            </a:r>
            <a:r>
              <a:rPr lang="en-US" sz="1747">
                <a:solidFill>
                  <a:srgbClr val="FFFFFF"/>
                </a:solidFill>
                <a:latin typeface="Poppins"/>
                <a:ea typeface="Poppins"/>
                <a:cs typeface="Poppins"/>
                <a:sym typeface="Poppins"/>
              </a:rPr>
              <a:t> </a:t>
            </a:r>
            <a:r>
              <a:rPr lang="en-US" sz="1747">
                <a:solidFill>
                  <a:srgbClr val="FFFFFF"/>
                </a:solidFill>
                <a:latin typeface="Poppins"/>
                <a:ea typeface="Poppins"/>
                <a:cs typeface="Poppins"/>
                <a:sym typeface="Poppins"/>
              </a:rPr>
              <a:t>bay</a:t>
            </a:r>
            <a:r>
              <a:rPr lang="en-US" sz="1747">
                <a:solidFill>
                  <a:srgbClr val="FFFFFF"/>
                </a:solidFill>
                <a:latin typeface="Poppins"/>
                <a:ea typeface="Poppins"/>
                <a:cs typeface="Poppins"/>
                <a:sym typeface="Poppins"/>
              </a:rPr>
              <a:t>ar</a:t>
            </a:r>
            <a:r>
              <a:rPr lang="en-US" sz="1747">
                <a:solidFill>
                  <a:srgbClr val="FFFFFF"/>
                </a:solidFill>
                <a:latin typeface="Poppins"/>
                <a:ea typeface="Poppins"/>
                <a:cs typeface="Poppins"/>
                <a:sym typeface="Poppins"/>
              </a:rPr>
              <a:t> di pemb</a:t>
            </a:r>
            <a:r>
              <a:rPr lang="en-US" sz="1747">
                <a:solidFill>
                  <a:srgbClr val="FFFFFF"/>
                </a:solidFill>
                <a:latin typeface="Poppins"/>
                <a:ea typeface="Poppins"/>
                <a:cs typeface="Poppins"/>
                <a:sym typeface="Poppins"/>
              </a:rPr>
              <a:t>ay</a:t>
            </a:r>
            <a:r>
              <a:rPr lang="en-US" sz="1747">
                <a:solidFill>
                  <a:srgbClr val="FFFFFF"/>
                </a:solidFill>
                <a:latin typeface="Poppins"/>
                <a:ea typeface="Poppins"/>
                <a:cs typeface="Poppins"/>
                <a:sym typeface="Poppins"/>
              </a:rPr>
              <a:t>aran</a:t>
            </a:r>
            <a:r>
              <a:rPr lang="en-US" sz="1747">
                <a:solidFill>
                  <a:srgbClr val="FFFFFF"/>
                </a:solidFill>
                <a:latin typeface="Poppins"/>
                <a:ea typeface="Poppins"/>
                <a:cs typeface="Poppins"/>
                <a:sym typeface="Poppins"/>
              </a:rPr>
              <a:t> cici</a:t>
            </a:r>
            <a:r>
              <a:rPr lang="en-US" sz="1747">
                <a:solidFill>
                  <a:srgbClr val="FFFFFF"/>
                </a:solidFill>
                <a:latin typeface="Poppins"/>
                <a:ea typeface="Poppins"/>
                <a:cs typeface="Poppins"/>
                <a:sym typeface="Poppins"/>
              </a:rPr>
              <a:t>l</a:t>
            </a:r>
            <a:r>
              <a:rPr lang="en-US" sz="1747">
                <a:solidFill>
                  <a:srgbClr val="FFFFFF"/>
                </a:solidFill>
                <a:latin typeface="Poppins"/>
                <a:ea typeface="Poppins"/>
                <a:cs typeface="Poppins"/>
                <a:sym typeface="Poppins"/>
              </a:rPr>
              <a:t>an</a:t>
            </a:r>
            <a:r>
              <a:rPr lang="en-US" sz="1747">
                <a:solidFill>
                  <a:srgbClr val="FFFFFF"/>
                </a:solidFill>
                <a:latin typeface="Poppins"/>
                <a:ea typeface="Poppins"/>
                <a:cs typeface="Poppins"/>
                <a:sym typeface="Poppins"/>
              </a:rPr>
              <a:t> sebelum</a:t>
            </a:r>
            <a:r>
              <a:rPr lang="en-US" sz="1747">
                <a:solidFill>
                  <a:srgbClr val="FFFFFF"/>
                </a:solidFill>
                <a:latin typeface="Poppins"/>
                <a:ea typeface="Poppins"/>
                <a:cs typeface="Poppins"/>
                <a:sym typeface="Poppins"/>
              </a:rPr>
              <a:t>n</a:t>
            </a:r>
            <a:r>
              <a:rPr lang="en-US" sz="1747">
                <a:solidFill>
                  <a:srgbClr val="FFFFFF"/>
                </a:solidFill>
                <a:latin typeface="Poppins"/>
                <a:ea typeface="Poppins"/>
                <a:cs typeface="Poppins"/>
                <a:sym typeface="Poppins"/>
              </a:rPr>
              <a:t>ya</a:t>
            </a:r>
          </a:p>
        </p:txBody>
      </p:sp>
      <p:sp>
        <p:nvSpPr>
          <p:cNvPr name="TextBox 35" id="35"/>
          <p:cNvSpPr txBox="true"/>
          <p:nvPr/>
        </p:nvSpPr>
        <p:spPr>
          <a:xfrm rot="0">
            <a:off x="9364611" y="8322192"/>
            <a:ext cx="8180167" cy="300972"/>
          </a:xfrm>
          <a:prstGeom prst="rect">
            <a:avLst/>
          </a:prstGeom>
        </p:spPr>
        <p:txBody>
          <a:bodyPr anchor="t" rtlCol="false" tIns="0" lIns="0" bIns="0" rIns="0">
            <a:spAutoFit/>
          </a:bodyPr>
          <a:lstStyle/>
          <a:p>
            <a:pPr algn="l">
              <a:lnSpc>
                <a:spcPts val="2456"/>
              </a:lnSpc>
            </a:pPr>
            <a:r>
              <a:rPr lang="en-US" sz="1949" b="true">
                <a:solidFill>
                  <a:srgbClr val="FFFFFF"/>
                </a:solidFill>
                <a:latin typeface="Garet Bold"/>
                <a:ea typeface="Garet Bold"/>
                <a:cs typeface="Garet Bold"/>
                <a:sym typeface="Garet Bold"/>
              </a:rPr>
              <a:t>Fitur pendidikan &amp; jenis income mendukung pemisahan risiko:</a:t>
            </a:r>
          </a:p>
        </p:txBody>
      </p:sp>
      <p:sp>
        <p:nvSpPr>
          <p:cNvPr name="TextBox 36" id="36"/>
          <p:cNvSpPr txBox="true"/>
          <p:nvPr/>
        </p:nvSpPr>
        <p:spPr>
          <a:xfrm rot="0">
            <a:off x="9364611" y="8708359"/>
            <a:ext cx="7597566" cy="850657"/>
          </a:xfrm>
          <a:prstGeom prst="rect">
            <a:avLst/>
          </a:prstGeom>
        </p:spPr>
        <p:txBody>
          <a:bodyPr anchor="t" rtlCol="false" tIns="0" lIns="0" bIns="0" rIns="0">
            <a:spAutoFit/>
          </a:bodyPr>
          <a:lstStyle/>
          <a:p>
            <a:pPr algn="l" marL="377296" indent="-188648" lvl="1">
              <a:lnSpc>
                <a:spcPts val="2236"/>
              </a:lnSpc>
              <a:buFont typeface="Arial"/>
              <a:buChar char="•"/>
            </a:pPr>
            <a:r>
              <a:rPr lang="en-US" sz="1747">
                <a:solidFill>
                  <a:srgbClr val="FFFFFF"/>
                </a:solidFill>
                <a:latin typeface="Poppins"/>
                <a:ea typeface="Poppins"/>
                <a:cs typeface="Poppins"/>
                <a:sym typeface="Poppins"/>
              </a:rPr>
              <a:t>NAME_EDUCATION_TYPE_Higher education, NAME_INCOME_TYPE_W</a:t>
            </a:r>
            <a:r>
              <a:rPr lang="en-US" sz="1747">
                <a:solidFill>
                  <a:srgbClr val="FFFFFF"/>
                </a:solidFill>
                <a:latin typeface="Poppins"/>
                <a:ea typeface="Poppins"/>
                <a:cs typeface="Poppins"/>
                <a:sym typeface="Poppins"/>
              </a:rPr>
              <a:t>orking</a:t>
            </a:r>
          </a:p>
          <a:p>
            <a:pPr algn="l" marL="377296" indent="-188648" lvl="1">
              <a:lnSpc>
                <a:spcPts val="2236"/>
              </a:lnSpc>
              <a:buFont typeface="Arial"/>
              <a:buChar char="•"/>
            </a:pPr>
            <a:r>
              <a:rPr lang="en-US" sz="1747">
                <a:solidFill>
                  <a:srgbClr val="FFFFFF"/>
                </a:solidFill>
                <a:latin typeface="Poppins"/>
                <a:ea typeface="Poppins"/>
                <a:cs typeface="Poppins"/>
                <a:sym typeface="Poppins"/>
              </a:rPr>
              <a:t>Bi</a:t>
            </a:r>
            <a:r>
              <a:rPr lang="en-US" sz="1747">
                <a:solidFill>
                  <a:srgbClr val="FFFFFF"/>
                </a:solidFill>
                <a:latin typeface="Poppins"/>
                <a:ea typeface="Poppins"/>
                <a:cs typeface="Poppins"/>
                <a:sym typeface="Poppins"/>
              </a:rPr>
              <a:t>asany</a:t>
            </a:r>
            <a:r>
              <a:rPr lang="en-US" sz="1747">
                <a:solidFill>
                  <a:srgbClr val="FFFFFF"/>
                </a:solidFill>
                <a:latin typeface="Poppins"/>
                <a:ea typeface="Poppins"/>
                <a:cs typeface="Poppins"/>
                <a:sym typeface="Poppins"/>
              </a:rPr>
              <a:t>a</a:t>
            </a:r>
            <a:r>
              <a:rPr lang="en-US" sz="1747">
                <a:solidFill>
                  <a:srgbClr val="FFFFFF"/>
                </a:solidFill>
                <a:latin typeface="Poppins"/>
                <a:ea typeface="Poppins"/>
                <a:cs typeface="Poppins"/>
                <a:sym typeface="Poppins"/>
              </a:rPr>
              <a:t> nasabah berpendidikan/</a:t>
            </a:r>
            <a:r>
              <a:rPr lang="en-US" sz="1747">
                <a:solidFill>
                  <a:srgbClr val="FFFFFF"/>
                </a:solidFill>
                <a:latin typeface="Poppins"/>
                <a:ea typeface="Poppins"/>
                <a:cs typeface="Poppins"/>
                <a:sym typeface="Poppins"/>
              </a:rPr>
              <a:t>income tetap</a:t>
            </a:r>
            <a:r>
              <a:rPr lang="en-US" sz="1747">
                <a:solidFill>
                  <a:srgbClr val="FFFFFF"/>
                </a:solidFill>
                <a:latin typeface="Poppins"/>
                <a:ea typeface="Poppins"/>
                <a:cs typeface="Poppins"/>
                <a:sym typeface="Poppins"/>
              </a:rPr>
              <a:t> lebih ama</a:t>
            </a:r>
            <a:r>
              <a:rPr lang="en-US" sz="1747">
                <a:solidFill>
                  <a:srgbClr val="FFFFFF"/>
                </a:solidFill>
                <a:latin typeface="Poppins"/>
                <a:ea typeface="Poppins"/>
                <a:cs typeface="Poppins"/>
                <a:sym typeface="Poppins"/>
              </a:rPr>
              <a:t>n.</a:t>
            </a:r>
          </a:p>
        </p:txBody>
      </p:sp>
      <p:sp>
        <p:nvSpPr>
          <p:cNvPr name="TextBox 37" id="37"/>
          <p:cNvSpPr txBox="true"/>
          <p:nvPr/>
        </p:nvSpPr>
        <p:spPr>
          <a:xfrm rot="0">
            <a:off x="691887" y="8641427"/>
            <a:ext cx="7523196" cy="1335596"/>
          </a:xfrm>
          <a:prstGeom prst="rect">
            <a:avLst/>
          </a:prstGeom>
        </p:spPr>
        <p:txBody>
          <a:bodyPr anchor="t" rtlCol="false" tIns="0" lIns="0" bIns="0" rIns="0">
            <a:spAutoFit/>
          </a:bodyPr>
          <a:lstStyle/>
          <a:p>
            <a:pPr algn="l" marL="0" indent="0" lvl="0">
              <a:lnSpc>
                <a:spcPts val="2135"/>
              </a:lnSpc>
            </a:pPr>
            <a:r>
              <a:rPr lang="en-US" b="true" sz="1668" i="true">
                <a:solidFill>
                  <a:srgbClr val="6CE5E8"/>
                </a:solidFill>
                <a:latin typeface="Garet Bold Italics"/>
                <a:ea typeface="Garet Bold Italics"/>
                <a:cs typeface="Garet Bold Italics"/>
                <a:sym typeface="Garet Bold Italics"/>
              </a:rPr>
              <a:t>Pemod</a:t>
            </a:r>
            <a:r>
              <a:rPr lang="en-US" b="true" sz="1668" i="true" strike="noStrike" u="none">
                <a:solidFill>
                  <a:srgbClr val="6CE5E8"/>
                </a:solidFill>
                <a:latin typeface="Garet Bold Italics"/>
                <a:ea typeface="Garet Bold Italics"/>
                <a:cs typeface="Garet Bold Italics"/>
                <a:sym typeface="Garet Bold Italics"/>
              </a:rPr>
              <a:t>elan menunjukkan bahwa skor eksternal, faktor usia, riwayat pinjaman, dan perilaku pembayaran adalah kunci dalam membedakan nasabah berisiko tinggi dan rendah. Fitur‑fitur ini layak dijadikan dasar utama kebijakan credit scoring dan monitoring risiko.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31B3A"/>
        </a:solidFill>
      </p:bgPr>
    </p:bg>
    <p:spTree>
      <p:nvGrpSpPr>
        <p:cNvPr id="1" name=""/>
        <p:cNvGrpSpPr/>
        <p:nvPr/>
      </p:nvGrpSpPr>
      <p:grpSpPr>
        <a:xfrm>
          <a:off x="0" y="0"/>
          <a:ext cx="0" cy="0"/>
          <a:chOff x="0" y="0"/>
          <a:chExt cx="0" cy="0"/>
        </a:xfrm>
      </p:grpSpPr>
      <p:sp>
        <p:nvSpPr>
          <p:cNvPr name="Freeform 2" id="2"/>
          <p:cNvSpPr/>
          <p:nvPr/>
        </p:nvSpPr>
        <p:spPr>
          <a:xfrm flipH="true" flipV="true" rot="0">
            <a:off x="12155330" y="-664134"/>
            <a:ext cx="6132670" cy="3740929"/>
          </a:xfrm>
          <a:custGeom>
            <a:avLst/>
            <a:gdLst/>
            <a:ahLst/>
            <a:cxnLst/>
            <a:rect r="r" b="b" t="t" l="l"/>
            <a:pathLst>
              <a:path h="3740929" w="6132670">
                <a:moveTo>
                  <a:pt x="6132670" y="3740929"/>
                </a:moveTo>
                <a:lnTo>
                  <a:pt x="0" y="3740929"/>
                </a:lnTo>
                <a:lnTo>
                  <a:pt x="0" y="0"/>
                </a:lnTo>
                <a:lnTo>
                  <a:pt x="6132670" y="0"/>
                </a:lnTo>
                <a:lnTo>
                  <a:pt x="6132670" y="37409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18876" y="9152386"/>
            <a:ext cx="1645678" cy="647986"/>
          </a:xfrm>
          <a:custGeom>
            <a:avLst/>
            <a:gdLst/>
            <a:ahLst/>
            <a:cxnLst/>
            <a:rect r="r" b="b" t="t" l="l"/>
            <a:pathLst>
              <a:path h="647986" w="1645678">
                <a:moveTo>
                  <a:pt x="0" y="0"/>
                </a:moveTo>
                <a:lnTo>
                  <a:pt x="1645678" y="0"/>
                </a:lnTo>
                <a:lnTo>
                  <a:pt x="1645678" y="647986"/>
                </a:lnTo>
                <a:lnTo>
                  <a:pt x="0" y="647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039904"/>
            <a:ext cx="12857457" cy="1533612"/>
          </a:xfrm>
          <a:prstGeom prst="rect">
            <a:avLst/>
          </a:prstGeom>
        </p:spPr>
        <p:txBody>
          <a:bodyPr anchor="t" rtlCol="false" tIns="0" lIns="0" bIns="0" rIns="0">
            <a:spAutoFit/>
          </a:bodyPr>
          <a:lstStyle/>
          <a:p>
            <a:pPr algn="just">
              <a:lnSpc>
                <a:spcPts val="5949"/>
              </a:lnSpc>
            </a:pPr>
            <a:r>
              <a:rPr lang="en-US" b="true" sz="5949">
                <a:solidFill>
                  <a:srgbClr val="FFFFFF"/>
                </a:solidFill>
                <a:latin typeface="Garet Bold"/>
                <a:ea typeface="Garet Bold"/>
                <a:cs typeface="Garet Bold"/>
                <a:sym typeface="Garet Bold"/>
              </a:rPr>
              <a:t>BUSINESS </a:t>
            </a:r>
          </a:p>
          <a:p>
            <a:pPr algn="just">
              <a:lnSpc>
                <a:spcPts val="5949"/>
              </a:lnSpc>
            </a:pPr>
            <a:r>
              <a:rPr lang="en-US" b="true" sz="5949">
                <a:solidFill>
                  <a:srgbClr val="FFFFFF"/>
                </a:solidFill>
                <a:latin typeface="Garet Bold"/>
                <a:ea typeface="Garet Bold"/>
                <a:cs typeface="Garet Bold"/>
                <a:sym typeface="Garet Bold"/>
              </a:rPr>
              <a:t>RECOMMENDATION &amp; REFERENSI</a:t>
            </a:r>
          </a:p>
        </p:txBody>
      </p:sp>
      <p:sp>
        <p:nvSpPr>
          <p:cNvPr name="TextBox 5" id="5"/>
          <p:cNvSpPr txBox="true"/>
          <p:nvPr/>
        </p:nvSpPr>
        <p:spPr>
          <a:xfrm rot="0">
            <a:off x="1373621" y="3065889"/>
            <a:ext cx="15426182" cy="3321924"/>
          </a:xfrm>
          <a:prstGeom prst="rect">
            <a:avLst/>
          </a:prstGeom>
        </p:spPr>
        <p:txBody>
          <a:bodyPr anchor="t" rtlCol="false" tIns="0" lIns="0" bIns="0" rIns="0">
            <a:spAutoFit/>
          </a:bodyPr>
          <a:lstStyle/>
          <a:p>
            <a:pPr algn="l" marL="342650" indent="-171325" lvl="1">
              <a:lnSpc>
                <a:spcPts val="2206"/>
              </a:lnSpc>
              <a:buFont typeface="Arial"/>
              <a:buChar char="•"/>
            </a:pPr>
            <a:r>
              <a:rPr lang="en-US" sz="1587">
                <a:solidFill>
                  <a:srgbClr val="FFFFFF"/>
                </a:solidFill>
                <a:latin typeface="Poppins"/>
                <a:ea typeface="Poppins"/>
                <a:cs typeface="Poppins"/>
                <a:sym typeface="Poppins"/>
              </a:rPr>
              <a:t>Gunakan Logistic Regression sebagai model utama credit scoring karena memberikan AUC tertinggi (0,7474) dan recall lebih tinggi untuk nasabah default (68%) dibanding Random Forest.</a:t>
            </a:r>
          </a:p>
          <a:p>
            <a:pPr algn="l" marL="342650" indent="-171325" lvl="1">
              <a:lnSpc>
                <a:spcPts val="2206"/>
              </a:lnSpc>
              <a:buFont typeface="Arial"/>
              <a:buChar char="•"/>
            </a:pPr>
            <a:r>
              <a:rPr lang="en-US" sz="1587">
                <a:solidFill>
                  <a:srgbClr val="FFFFFF"/>
                </a:solidFill>
                <a:latin typeface="Poppins"/>
                <a:ea typeface="Poppins"/>
                <a:cs typeface="Poppins"/>
                <a:sym typeface="Poppins"/>
              </a:rPr>
              <a:t>Terapkan segmen risiko berdasarkan probabilitas output model:</a:t>
            </a:r>
          </a:p>
          <a:p>
            <a:pPr algn="l" marL="685300" indent="-228433" lvl="2">
              <a:lnSpc>
                <a:spcPts val="2206"/>
              </a:lnSpc>
              <a:buFont typeface="Arial"/>
              <a:buChar char="⚬"/>
            </a:pPr>
            <a:r>
              <a:rPr lang="en-US" sz="1587">
                <a:solidFill>
                  <a:srgbClr val="FFFFFF"/>
                </a:solidFill>
                <a:latin typeface="Poppins"/>
                <a:ea typeface="Poppins"/>
                <a:cs typeface="Poppins"/>
                <a:sym typeface="Poppins"/>
              </a:rPr>
              <a:t>Low risk: probabilitas default rendah → auto‑approve dengan limit normal/lebih tinggi.</a:t>
            </a:r>
          </a:p>
          <a:p>
            <a:pPr algn="l" marL="685300" indent="-228433" lvl="2">
              <a:lnSpc>
                <a:spcPts val="2206"/>
              </a:lnSpc>
              <a:buFont typeface="Arial"/>
              <a:buChar char="⚬"/>
            </a:pPr>
            <a:r>
              <a:rPr lang="en-US" sz="1587">
                <a:solidFill>
                  <a:srgbClr val="FFFFFF"/>
                </a:solidFill>
                <a:latin typeface="Poppins"/>
                <a:ea typeface="Poppins"/>
                <a:cs typeface="Poppins"/>
                <a:sym typeface="Poppins"/>
              </a:rPr>
              <a:t>Medium risk: probabilitas sedang → butuh manual review &amp; dokumen tambahan.</a:t>
            </a:r>
          </a:p>
          <a:p>
            <a:pPr algn="l" marL="685300" indent="-228433" lvl="2">
              <a:lnSpc>
                <a:spcPts val="2206"/>
              </a:lnSpc>
              <a:buFont typeface="Arial"/>
              <a:buChar char="⚬"/>
            </a:pPr>
            <a:r>
              <a:rPr lang="en-US" sz="1587">
                <a:solidFill>
                  <a:srgbClr val="FFFFFF"/>
                </a:solidFill>
                <a:latin typeface="Poppins"/>
                <a:ea typeface="Poppins"/>
                <a:cs typeface="Poppins"/>
                <a:sym typeface="Poppins"/>
              </a:rPr>
              <a:t>High risk: probabilitas tinggi → limit diturunkan signifikan atau aplikasi direject.</a:t>
            </a:r>
          </a:p>
          <a:p>
            <a:pPr algn="l" marL="342650" indent="-171325" lvl="1">
              <a:lnSpc>
                <a:spcPts val="2206"/>
              </a:lnSpc>
              <a:buFont typeface="Arial"/>
              <a:buChar char="•"/>
            </a:pPr>
            <a:r>
              <a:rPr lang="en-US" sz="1587">
                <a:solidFill>
                  <a:srgbClr val="FFFFFF"/>
                </a:solidFill>
                <a:latin typeface="Poppins"/>
                <a:ea typeface="Poppins"/>
                <a:cs typeface="Poppins"/>
                <a:sym typeface="Poppins"/>
              </a:rPr>
              <a:t>Jadikan EXT_SOURCE_1/2/3, umur, lama bekerja, rasio kredit terhadap pendapatan, total utang di bureau, dan LATE_PAYMENT_RATE sebagai fitur utama dalam aturan bisnis (misal: batasi plafon jika rasio kredit/income tinggi atau skor eksternal terlalu rendah).</a:t>
            </a:r>
          </a:p>
          <a:p>
            <a:pPr algn="l" marL="342650" indent="-171325" lvl="1">
              <a:lnSpc>
                <a:spcPts val="2206"/>
              </a:lnSpc>
              <a:buFont typeface="Arial"/>
              <a:buChar char="•"/>
            </a:pPr>
            <a:r>
              <a:rPr lang="en-US" sz="1587">
                <a:solidFill>
                  <a:srgbClr val="FFFFFF"/>
                </a:solidFill>
                <a:latin typeface="Poppins"/>
                <a:ea typeface="Poppins"/>
                <a:cs typeface="Poppins"/>
                <a:sym typeface="Poppins"/>
              </a:rPr>
              <a:t>Fokus akuisisi dan promo ke segmen yang menurut model relatif aman: income type ‘Working / Commercial associate / State servant / Pensioner’ dan skor eksternal tinggi, untuk menjaga kualitas portofolio.</a:t>
            </a:r>
          </a:p>
          <a:p>
            <a:pPr algn="l" marL="342650" indent="-171325" lvl="1">
              <a:lnSpc>
                <a:spcPts val="2206"/>
              </a:lnSpc>
              <a:buFont typeface="Arial"/>
              <a:buChar char="•"/>
            </a:pPr>
            <a:r>
              <a:rPr lang="en-US" sz="1587">
                <a:solidFill>
                  <a:srgbClr val="FFFFFF"/>
                </a:solidFill>
                <a:latin typeface="Poppins"/>
                <a:ea typeface="Poppins"/>
                <a:cs typeface="Poppins"/>
                <a:sym typeface="Poppins"/>
              </a:rPr>
              <a:t>Lakukan monitoring berkala (misalnya tiap kuartal) terhadap AUC, recall default, dan default rate per segmen; lakukan retraining model ketika terdapat data baru atau pola risiko berubah.</a:t>
            </a:r>
          </a:p>
        </p:txBody>
      </p:sp>
      <p:sp>
        <p:nvSpPr>
          <p:cNvPr name="TextBox 6" id="6"/>
          <p:cNvSpPr txBox="true"/>
          <p:nvPr/>
        </p:nvSpPr>
        <p:spPr>
          <a:xfrm rot="0">
            <a:off x="1028700" y="2630666"/>
            <a:ext cx="7345327" cy="372377"/>
          </a:xfrm>
          <a:prstGeom prst="rect">
            <a:avLst/>
          </a:prstGeom>
        </p:spPr>
        <p:txBody>
          <a:bodyPr anchor="t" rtlCol="false" tIns="0" lIns="0" bIns="0" rIns="0">
            <a:spAutoFit/>
          </a:bodyPr>
          <a:lstStyle/>
          <a:p>
            <a:pPr algn="l">
              <a:lnSpc>
                <a:spcPts val="3000"/>
              </a:lnSpc>
            </a:pPr>
            <a:r>
              <a:rPr lang="en-US" sz="2381" b="true">
                <a:solidFill>
                  <a:srgbClr val="6CE5E8"/>
                </a:solidFill>
                <a:latin typeface="Garet Bold"/>
                <a:ea typeface="Garet Bold"/>
                <a:cs typeface="Garet Bold"/>
                <a:sym typeface="Garet Bold"/>
              </a:rPr>
              <a:t>1.</a:t>
            </a:r>
            <a:r>
              <a:rPr lang="en-US" b="true" sz="2381">
                <a:solidFill>
                  <a:srgbClr val="6CE5E8"/>
                </a:solidFill>
                <a:latin typeface="Garet Bold"/>
                <a:ea typeface="Garet Bold"/>
                <a:cs typeface="Garet Bold"/>
                <a:sym typeface="Garet Bold"/>
              </a:rPr>
              <a:t>Business Recommendation</a:t>
            </a:r>
          </a:p>
        </p:txBody>
      </p:sp>
      <p:sp>
        <p:nvSpPr>
          <p:cNvPr name="TextBox 7" id="7"/>
          <p:cNvSpPr txBox="true"/>
          <p:nvPr/>
        </p:nvSpPr>
        <p:spPr>
          <a:xfrm rot="0">
            <a:off x="1028700" y="6545001"/>
            <a:ext cx="7345327" cy="372377"/>
          </a:xfrm>
          <a:prstGeom prst="rect">
            <a:avLst/>
          </a:prstGeom>
        </p:spPr>
        <p:txBody>
          <a:bodyPr anchor="t" rtlCol="false" tIns="0" lIns="0" bIns="0" rIns="0">
            <a:spAutoFit/>
          </a:bodyPr>
          <a:lstStyle/>
          <a:p>
            <a:pPr algn="l">
              <a:lnSpc>
                <a:spcPts val="3000"/>
              </a:lnSpc>
            </a:pPr>
            <a:r>
              <a:rPr lang="en-US" sz="2381" b="true">
                <a:solidFill>
                  <a:srgbClr val="6CE5E8"/>
                </a:solidFill>
                <a:latin typeface="Garet Bold"/>
                <a:ea typeface="Garet Bold"/>
                <a:cs typeface="Garet Bold"/>
                <a:sym typeface="Garet Bold"/>
              </a:rPr>
              <a:t>2.Referen</a:t>
            </a:r>
            <a:r>
              <a:rPr lang="en-US" b="true" sz="2381">
                <a:solidFill>
                  <a:srgbClr val="6CE5E8"/>
                </a:solidFill>
                <a:latin typeface="Garet Bold"/>
                <a:ea typeface="Garet Bold"/>
                <a:cs typeface="Garet Bold"/>
                <a:sym typeface="Garet Bold"/>
              </a:rPr>
              <a:t>si &amp; Implementasi</a:t>
            </a:r>
          </a:p>
        </p:txBody>
      </p:sp>
      <p:sp>
        <p:nvSpPr>
          <p:cNvPr name="TextBox 8" id="8"/>
          <p:cNvSpPr txBox="true"/>
          <p:nvPr/>
        </p:nvSpPr>
        <p:spPr>
          <a:xfrm rot="0">
            <a:off x="1373621" y="6984053"/>
            <a:ext cx="15426182" cy="837478"/>
          </a:xfrm>
          <a:prstGeom prst="rect">
            <a:avLst/>
          </a:prstGeom>
        </p:spPr>
        <p:txBody>
          <a:bodyPr anchor="t" rtlCol="false" tIns="0" lIns="0" bIns="0" rIns="0">
            <a:spAutoFit/>
          </a:bodyPr>
          <a:lstStyle/>
          <a:p>
            <a:pPr algn="l" marL="342650" indent="-171325" lvl="1">
              <a:lnSpc>
                <a:spcPts val="2206"/>
              </a:lnSpc>
              <a:buFont typeface="Arial"/>
              <a:buChar char="•"/>
            </a:pPr>
            <a:r>
              <a:rPr lang="en-US" sz="1587">
                <a:solidFill>
                  <a:srgbClr val="FFFFFF"/>
                </a:solidFill>
                <a:latin typeface="Poppins"/>
                <a:ea typeface="Poppins"/>
                <a:cs typeface="Poppins"/>
                <a:sym typeface="Poppins"/>
              </a:rPr>
              <a:t>Dataset: Home Credit Default Risk </a:t>
            </a:r>
          </a:p>
          <a:p>
            <a:pPr algn="l" marL="342650" indent="-171325" lvl="1">
              <a:lnSpc>
                <a:spcPts val="2206"/>
              </a:lnSpc>
              <a:buFont typeface="Arial"/>
              <a:buChar char="•"/>
            </a:pPr>
            <a:r>
              <a:rPr lang="en-US" sz="1587">
                <a:solidFill>
                  <a:srgbClr val="FFFFFF"/>
                </a:solidFill>
                <a:latin typeface="Poppins"/>
                <a:ea typeface="Poppins"/>
                <a:cs typeface="Poppins"/>
                <a:sym typeface="Poppins"/>
              </a:rPr>
              <a:t>Konsep evaluasi model: dokumentasi Precision–Recall, ROC–AUC, dan metrik klasifikasi dari Google ML Crash Course / scikit‑learn.</a:t>
            </a:r>
          </a:p>
          <a:p>
            <a:pPr algn="l" marL="342650" indent="-171325" lvl="1">
              <a:lnSpc>
                <a:spcPts val="2206"/>
              </a:lnSpc>
              <a:buFont typeface="Arial"/>
              <a:buChar char="•"/>
            </a:pPr>
            <a:r>
              <a:rPr lang="en-US" sz="1587">
                <a:solidFill>
                  <a:srgbClr val="FFFFFF"/>
                </a:solidFill>
                <a:latin typeface="Poppins"/>
                <a:ea typeface="Poppins"/>
                <a:cs typeface="Poppins"/>
                <a:sym typeface="Poppins"/>
              </a:rPr>
              <a:t>Implementasi: notebook Python &amp; script preprocessing + modeling disimpan di GitHub pribadi </a:t>
            </a:r>
          </a:p>
        </p:txBody>
      </p:sp>
      <p:grpSp>
        <p:nvGrpSpPr>
          <p:cNvPr name="Group 9" id="9"/>
          <p:cNvGrpSpPr/>
          <p:nvPr/>
        </p:nvGrpSpPr>
        <p:grpSpPr>
          <a:xfrm rot="0">
            <a:off x="1028700" y="9221201"/>
            <a:ext cx="3515563" cy="579170"/>
            <a:chOff x="0" y="0"/>
            <a:chExt cx="4687418" cy="772227"/>
          </a:xfrm>
        </p:grpSpPr>
        <p:grpSp>
          <p:nvGrpSpPr>
            <p:cNvPr name="Group 10" id="10"/>
            <p:cNvGrpSpPr/>
            <p:nvPr/>
          </p:nvGrpSpPr>
          <p:grpSpPr>
            <a:xfrm rot="0">
              <a:off x="0" y="0"/>
              <a:ext cx="4687418" cy="772227"/>
              <a:chOff x="0" y="0"/>
              <a:chExt cx="1160341" cy="191160"/>
            </a:xfrm>
          </p:grpSpPr>
          <p:sp>
            <p:nvSpPr>
              <p:cNvPr name="Freeform 11" id="11"/>
              <p:cNvSpPr/>
              <p:nvPr/>
            </p:nvSpPr>
            <p:spPr>
              <a:xfrm flipH="false" flipV="false" rot="0">
                <a:off x="0" y="0"/>
                <a:ext cx="1160341" cy="191160"/>
              </a:xfrm>
              <a:custGeom>
                <a:avLst/>
                <a:gdLst/>
                <a:ahLst/>
                <a:cxnLst/>
                <a:rect r="r" b="b" t="t" l="l"/>
                <a:pathLst>
                  <a:path h="191160" w="1160341">
                    <a:moveTo>
                      <a:pt x="95580" y="0"/>
                    </a:moveTo>
                    <a:lnTo>
                      <a:pt x="1064761" y="0"/>
                    </a:lnTo>
                    <a:cubicBezTo>
                      <a:pt x="1090110" y="0"/>
                      <a:pt x="1114421" y="10070"/>
                      <a:pt x="1132346" y="27995"/>
                    </a:cubicBezTo>
                    <a:cubicBezTo>
                      <a:pt x="1150271" y="45919"/>
                      <a:pt x="1160341" y="70231"/>
                      <a:pt x="1160341" y="95580"/>
                    </a:cubicBezTo>
                    <a:lnTo>
                      <a:pt x="1160341" y="95580"/>
                    </a:lnTo>
                    <a:cubicBezTo>
                      <a:pt x="1160341" y="120929"/>
                      <a:pt x="1150271" y="145241"/>
                      <a:pt x="1132346" y="163165"/>
                    </a:cubicBezTo>
                    <a:cubicBezTo>
                      <a:pt x="1114421" y="181090"/>
                      <a:pt x="1090110" y="191160"/>
                      <a:pt x="1064761" y="191160"/>
                    </a:cubicBezTo>
                    <a:lnTo>
                      <a:pt x="95580" y="191160"/>
                    </a:lnTo>
                    <a:cubicBezTo>
                      <a:pt x="70231" y="191160"/>
                      <a:pt x="45919" y="181090"/>
                      <a:pt x="27995" y="163165"/>
                    </a:cubicBezTo>
                    <a:cubicBezTo>
                      <a:pt x="10070" y="145241"/>
                      <a:pt x="0" y="120929"/>
                      <a:pt x="0" y="95580"/>
                    </a:cubicBezTo>
                    <a:lnTo>
                      <a:pt x="0" y="95580"/>
                    </a:lnTo>
                    <a:cubicBezTo>
                      <a:pt x="0" y="70231"/>
                      <a:pt x="10070" y="45919"/>
                      <a:pt x="27995" y="27995"/>
                    </a:cubicBezTo>
                    <a:cubicBezTo>
                      <a:pt x="45919" y="10070"/>
                      <a:pt x="70231" y="0"/>
                      <a:pt x="95580" y="0"/>
                    </a:cubicBezTo>
                    <a:close/>
                  </a:path>
                </a:pathLst>
              </a:custGeom>
              <a:solidFill>
                <a:srgbClr val="38B6FF"/>
              </a:solidFill>
            </p:spPr>
          </p:sp>
          <p:sp>
            <p:nvSpPr>
              <p:cNvPr name="TextBox 12" id="12"/>
              <p:cNvSpPr txBox="true"/>
              <p:nvPr/>
            </p:nvSpPr>
            <p:spPr>
              <a:xfrm>
                <a:off x="0" y="-38100"/>
                <a:ext cx="1160341" cy="22926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true" flipV="false" rot="0">
              <a:off x="4102216" y="203234"/>
              <a:ext cx="204937" cy="340144"/>
            </a:xfrm>
            <a:custGeom>
              <a:avLst/>
              <a:gdLst/>
              <a:ahLst/>
              <a:cxnLst/>
              <a:rect r="r" b="b" t="t" l="l"/>
              <a:pathLst>
                <a:path h="340144" w="204937">
                  <a:moveTo>
                    <a:pt x="204937" y="0"/>
                  </a:moveTo>
                  <a:lnTo>
                    <a:pt x="0" y="0"/>
                  </a:lnTo>
                  <a:lnTo>
                    <a:pt x="0" y="340144"/>
                  </a:lnTo>
                  <a:lnTo>
                    <a:pt x="204937" y="340144"/>
                  </a:lnTo>
                  <a:lnTo>
                    <a:pt x="20493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59914" y="231809"/>
              <a:ext cx="3619923" cy="337185"/>
            </a:xfrm>
            <a:prstGeom prst="rect">
              <a:avLst/>
            </a:prstGeom>
          </p:spPr>
          <p:txBody>
            <a:bodyPr anchor="t" rtlCol="false" tIns="0" lIns="0" bIns="0" rIns="0">
              <a:spAutoFit/>
            </a:bodyPr>
            <a:lstStyle/>
            <a:p>
              <a:pPr algn="ctr">
                <a:lnSpc>
                  <a:spcPts val="1800"/>
                </a:lnSpc>
                <a:spcBef>
                  <a:spcPct val="0"/>
                </a:spcBef>
              </a:pPr>
              <a:r>
                <a:rPr lang="en-US" b="true" sz="1800" u="sng">
                  <a:solidFill>
                    <a:srgbClr val="FFFFFF"/>
                  </a:solidFill>
                  <a:latin typeface="Garet Bold"/>
                  <a:ea typeface="Garet Bold"/>
                  <a:cs typeface="Garet Bold"/>
                  <a:sym typeface="Garet Bold"/>
                  <a:hlinkClick r:id="rId8" tooltip="https://github.com/EadLim/Rakamin_HomeCredit?tab=readme-ov-file"/>
                </a:rPr>
                <a:t>Dokumentasi di github</a:t>
              </a:r>
            </a:p>
          </p:txBody>
        </p:sp>
      </p:grpSp>
      <p:sp>
        <p:nvSpPr>
          <p:cNvPr name="TextBox 15" id="15"/>
          <p:cNvSpPr txBox="true"/>
          <p:nvPr/>
        </p:nvSpPr>
        <p:spPr>
          <a:xfrm rot="0">
            <a:off x="1028700" y="7956202"/>
            <a:ext cx="7345327" cy="372377"/>
          </a:xfrm>
          <a:prstGeom prst="rect">
            <a:avLst/>
          </a:prstGeom>
        </p:spPr>
        <p:txBody>
          <a:bodyPr anchor="t" rtlCol="false" tIns="0" lIns="0" bIns="0" rIns="0">
            <a:spAutoFit/>
          </a:bodyPr>
          <a:lstStyle/>
          <a:p>
            <a:pPr algn="l">
              <a:lnSpc>
                <a:spcPts val="3000"/>
              </a:lnSpc>
            </a:pPr>
            <a:r>
              <a:rPr lang="en-US" sz="2381" b="true">
                <a:solidFill>
                  <a:srgbClr val="6CE5E8"/>
                </a:solidFill>
                <a:latin typeface="Garet Bold"/>
                <a:ea typeface="Garet Bold"/>
                <a:cs typeface="Garet Bold"/>
                <a:sym typeface="Garet Bold"/>
              </a:rPr>
              <a:t>3. Kesimpulan</a:t>
            </a:r>
          </a:p>
        </p:txBody>
      </p:sp>
      <p:sp>
        <p:nvSpPr>
          <p:cNvPr name="TextBox 16" id="16"/>
          <p:cNvSpPr txBox="true"/>
          <p:nvPr/>
        </p:nvSpPr>
        <p:spPr>
          <a:xfrm rot="0">
            <a:off x="1373621" y="8348046"/>
            <a:ext cx="15426182" cy="561428"/>
          </a:xfrm>
          <a:prstGeom prst="rect">
            <a:avLst/>
          </a:prstGeom>
        </p:spPr>
        <p:txBody>
          <a:bodyPr anchor="t" rtlCol="false" tIns="0" lIns="0" bIns="0" rIns="0">
            <a:spAutoFit/>
          </a:bodyPr>
          <a:lstStyle/>
          <a:p>
            <a:pPr algn="l" marL="342650" indent="-171325" lvl="1">
              <a:lnSpc>
                <a:spcPts val="2206"/>
              </a:lnSpc>
              <a:buFont typeface="Arial"/>
              <a:buChar char="•"/>
            </a:pPr>
            <a:r>
              <a:rPr lang="en-US" sz="1587">
                <a:solidFill>
                  <a:srgbClr val="FFFFFF"/>
                </a:solidFill>
                <a:latin typeface="Poppins"/>
                <a:ea typeface="Poppins"/>
                <a:cs typeface="Poppins"/>
                <a:sym typeface="Poppins"/>
              </a:rPr>
              <a:t>Model ini dapat diintegrasikan ke dalam pipeline onboarding kredit sebagai modul scoring otomatis, dengan tetap memberikan ruang bagi tim risk/credit analyst untuk override berdasarkan kebijakan perusahaan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DAG6LtAn9cs</dc:identifier>
  <dcterms:modified xsi:type="dcterms:W3CDTF">2011-08-01T06:04:30Z</dcterms:modified>
  <cp:revision>1</cp:revision>
  <dc:title>GraceHerald_RakaminHomeCredit</dc:title>
</cp:coreProperties>
</file>